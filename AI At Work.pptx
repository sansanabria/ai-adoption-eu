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67" r:id="rId5"/>
    <p:sldId id="257" r:id="rId6"/>
    <p:sldId id="258" r:id="rId7"/>
    <p:sldId id="259" r:id="rId8"/>
    <p:sldId id="260" r:id="rId9"/>
    <p:sldId id="261" r:id="rId10"/>
    <p:sldId id="262" r:id="rId11"/>
    <p:sldId id="263" r:id="rId12"/>
    <p:sldId id="264" r:id="rId13"/>
    <p:sldId id="266"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4.xml.rels><?xml version="1.0" encoding="UTF-8"?><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5.png"/><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image" Target="../media/image2.jpeg"/></Relationships>
</file>

<file path=ppt/slides/_rels/slide5.xml.rels><?xml version="1.0" encoding="UTF-8"?><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6.xml.rels><?xml version="1.0" encoding="UTF-8"?><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3.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2.jpeg"/></Relationships>
</file>

<file path=ppt/slides/_rels/slide7.xml.rels><?xml version="1.0" encoding="UTF-8"?><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image" Target="../media/image2.jpeg"/></Relationships>
</file>

<file path=ppt/slides/_rels/slide8.xml.rels><?xml version="1.0" encoding="UTF-8"?><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jpeg"/></Relationships>
</file>

<file path=ppt/slides/_rels/slide9.xml.rels><?xml version="1.0" encoding="UTF-8"?><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image" Target="../media/image2.jpeg"/></Relationships>
</file>

<file path=ppt/slides/_rels/slide10.xml.rels><?xml version="1.0" encoding="UTF-8"?><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image" Target="../media/image2.jpeg"/></Relationships>
</file>

<file path=ppt/slides/_rels/slide11.xml.rels><?xml version="1.0" encoding="UTF-8"?><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2.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81D"/>
        </a:solidFill>
        <a:effectLst/>
      </p:bgPr>
    </p:bg>
    <p:spTree>
      <p:nvGrpSpPr>
        <p:cNvPr id="1" name=""/>
        <p:cNvGrpSpPr/>
        <p:nvPr/>
      </p:nvGrpSpPr>
      <p:grpSpPr>
        <a:xfrm>
          <a:off x="0" y="0"/>
          <a:ext cx="0" cy="0"/>
          <a:chOff x="0" y="0"/>
          <a:chExt cx="0" cy="0"/>
        </a:xfrm>
      </p:grpSpPr>
      <p:pic>
        <p:nvPicPr>
          <p:cNvPr id="2" name="Image 0" descr="/home/claude/work/assets/tpl_title.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777240" y="1874520"/>
            <a:ext cx="5486400" cy="320040"/>
          </a:xfrm>
          <a:prstGeom prst="rect">
            <a:avLst/>
          </a:prstGeom>
          <a:noFill/>
        </p:spPr>
        <p:txBody>
          <a:bodyPr wrap="square" lIns="0" tIns="0" rIns="0" bIns="0" rtlCol="0" anchor="ctr"/>
          <a:lstStyle/>
          <a:p>
            <a:pPr marL="0" indent="0">
              <a:buNone/>
            </a:pPr>
            <a:r>
              <a:rPr lang="en-US" sz="1300" b="1" kern="0" spc="200" dirty="0">
                <a:solidFill>
                  <a:srgbClr val="2CB2D7"/>
                </a:solidFill>
                <a:latin typeface="Arial" panose="020B0604020202020204" pitchFamily="34" charset="0"/>
                <a:ea typeface="Arial" panose="020B0604020202020204" pitchFamily="34" charset="-122"/>
                <a:cs typeface="Arial" panose="020B0604020202020204" pitchFamily="34" charset="-120"/>
              </a:rPr>
              <a:t>TRANSACTION TEAM</a:t>
            </a:r>
            <a:endParaRPr lang="en-US" sz="1300" dirty="0"/>
          </a:p>
        </p:txBody>
      </p:sp>
      <p:sp>
        <p:nvSpPr>
          <p:cNvPr id="4" name="Text 1"/>
          <p:cNvSpPr txBox="1"/>
          <p:nvPr/>
        </p:nvSpPr>
        <p:spPr>
          <a:xfrm>
            <a:off x="731520" y="2240280"/>
            <a:ext cx="5760720" cy="1005840"/>
          </a:xfrm>
          <a:prstGeom prst="rect">
            <a:avLst/>
          </a:prstGeom>
          <a:noFill/>
        </p:spPr>
        <p:txBody>
          <a:bodyPr wrap="square" lIns="0" tIns="0" rIns="0" bIns="0" rtlCol="0" anchor="ctr"/>
          <a:lstStyle/>
          <a:p>
            <a:pPr marL="0" indent="0">
              <a:buNone/>
            </a:pPr>
            <a:r>
              <a:rPr lang="en-US" sz="4200" dirty="0">
                <a:solidFill>
                  <a:srgbClr val="FFFFFF"/>
                </a:solidFill>
                <a:latin typeface="Arial" panose="020B0604020202020204" pitchFamily="34" charset="0"/>
                <a:ea typeface="Arial" panose="020B0604020202020204" pitchFamily="34" charset="-122"/>
                <a:cs typeface="Arial" panose="020B0604020202020204" pitchFamily="34" charset="-120"/>
              </a:rPr>
              <a:t>Using AI at Work</a:t>
            </a:r>
            <a:endParaRPr lang="en-US" sz="4200" dirty="0"/>
          </a:p>
        </p:txBody>
      </p:sp>
      <p:sp>
        <p:nvSpPr>
          <p:cNvPr id="5" name="Text 2"/>
          <p:cNvSpPr txBox="1"/>
          <p:nvPr/>
        </p:nvSpPr>
        <p:spPr>
          <a:xfrm>
            <a:off x="777240" y="3383280"/>
            <a:ext cx="5029200" cy="822960"/>
          </a:xfrm>
          <a:prstGeom prst="rect">
            <a:avLst/>
          </a:prstGeom>
          <a:noFill/>
        </p:spPr>
        <p:txBody>
          <a:bodyPr wrap="square" lIns="0" tIns="0" rIns="0" bIns="0" rtlCol="0" anchor="ctr"/>
          <a:lstStyle/>
          <a:p>
            <a:pPr marL="0" indent="0">
              <a:lnSpc>
                <a:spcPts val="2100"/>
              </a:lnSpc>
              <a:buNone/>
            </a:pPr>
            <a:r>
              <a:rPr lang="en-US" sz="1400" dirty="0">
                <a:solidFill>
                  <a:srgbClr val="D6E6F5"/>
                </a:solidFill>
                <a:latin typeface="Arial" panose="020B0604020202020204" pitchFamily="34" charset="0"/>
                <a:ea typeface="Arial" panose="020B0604020202020204" pitchFamily="34" charset="-122"/>
                <a:cs typeface="Arial" panose="020B0604020202020204" pitchFamily="34" charset="-120"/>
              </a:rPr>
              <a:t>A few things to keep in mind about the AI chat tools we use day to day.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image.jpeg"/>
          <p:cNvPicPr>
            <a:picLocks noChangeAspect="1"/>
          </p:cNvPicPr>
          <p:nvPr/>
        </p:nvPicPr>
        <p:blipFill>
          <a:blip r:embed="rId1"/>
          <a:stretch>
            <a:fillRect/>
          </a:stretch>
        </p:blipFill>
        <p:spPr>
          <a:xfrm>
            <a:off x="0" y="0"/>
            <a:ext cx="12188952" cy="6858000"/>
          </a:xfrm>
          <a:prstGeom prst="rect">
            <a:avLst/>
          </a:prstGeom>
        </p:spPr>
      </p:pic>
      <p:sp>
        <p:nvSpPr>
          <p:cNvPr id="3" name="TextBox 2"/>
          <p:cNvSpPr txBox="1"/>
          <p:nvPr/>
        </p:nvSpPr>
        <p:spPr>
          <a:xfrm>
            <a:off x="320040" y="219456"/>
            <a:ext cx="10607040" cy="731520"/>
          </a:xfrm>
          <a:prstGeom prst="rect">
            <a:avLst/>
          </a:prstGeom>
          <a:noFill/>
        </p:spPr>
        <p:txBody>
          <a:bodyPr wrap="square" lIns="0" tIns="0" rIns="0" bIns="0" anchor="ctr">
            <a:spAutoFit/>
          </a:bodyPr>
          <a:lstStyle/>
          <a:p>
            <a:pPr algn="ctr"/>
            <a:r>
              <a:rPr sz="3000" b="0" i="0">
                <a:solidFill>
                  <a:srgbClr val="FFFFFF"/>
                </a:solidFill>
                <a:latin typeface="Arial" panose="020B0604020202020204"/>
              </a:rPr>
              <a:t>What we'll cover</a:t>
            </a:r>
            <a:endParaRPr sz="3000" b="0" i="0">
              <a:solidFill>
                <a:srgbClr val="FFFFFF"/>
              </a:solidFill>
              <a:latin typeface="Arial" panose="020B0604020202020204"/>
            </a:endParaRPr>
          </a:p>
        </p:txBody>
      </p:sp>
      <p:pic>
        <p:nvPicPr>
          <p:cNvPr id="5" name="Picture 4" descr="image.png"/>
          <p:cNvPicPr>
            <a:picLocks noChangeAspect="1"/>
          </p:cNvPicPr>
          <p:nvPr/>
        </p:nvPicPr>
        <p:blipFill>
          <a:blip r:embed="rId2"/>
          <a:stretch>
            <a:fillRect/>
          </a:stretch>
        </p:blipFill>
        <p:spPr>
          <a:xfrm>
            <a:off x="868680" y="1965960"/>
            <a:ext cx="475488" cy="475488"/>
          </a:xfrm>
          <a:prstGeom prst="rect">
            <a:avLst/>
          </a:prstGeom>
        </p:spPr>
      </p:pic>
      <p:sp>
        <p:nvSpPr>
          <p:cNvPr id="6" name="TextBox 5"/>
          <p:cNvSpPr txBox="1"/>
          <p:nvPr/>
        </p:nvSpPr>
        <p:spPr>
          <a:xfrm>
            <a:off x="8686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01</a:t>
            </a:r>
            <a:endParaRPr sz="1300" b="1" i="0">
              <a:solidFill>
                <a:srgbClr val="FFFFFF"/>
              </a:solidFill>
              <a:latin typeface="Arial" panose="020B0604020202020204"/>
            </a:endParaRPr>
          </a:p>
        </p:txBody>
      </p:sp>
      <p:sp>
        <p:nvSpPr>
          <p:cNvPr id="7" name="TextBox 6"/>
          <p:cNvSpPr txBox="1"/>
          <p:nvPr/>
        </p:nvSpPr>
        <p:spPr>
          <a:xfrm>
            <a:off x="15819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 few terms first</a:t>
            </a:r>
            <a:endParaRPr sz="1400" b="1" i="0">
              <a:solidFill>
                <a:srgbClr val="00081D"/>
              </a:solidFill>
              <a:latin typeface="Arial" panose="020B0604020202020204"/>
            </a:endParaRPr>
          </a:p>
        </p:txBody>
      </p:sp>
      <p:pic>
        <p:nvPicPr>
          <p:cNvPr id="8" name="Picture 7" descr="image.png"/>
          <p:cNvPicPr>
            <a:picLocks noChangeAspect="1"/>
          </p:cNvPicPr>
          <p:nvPr/>
        </p:nvPicPr>
        <p:blipFill>
          <a:blip r:embed="rId2"/>
          <a:stretch>
            <a:fillRect/>
          </a:stretch>
        </p:blipFill>
        <p:spPr>
          <a:xfrm>
            <a:off x="868680" y="3017520"/>
            <a:ext cx="475488" cy="475488"/>
          </a:xfrm>
          <a:prstGeom prst="rect">
            <a:avLst/>
          </a:prstGeom>
        </p:spPr>
      </p:pic>
      <p:sp>
        <p:nvSpPr>
          <p:cNvPr id="9" name="TextBox 8"/>
          <p:cNvSpPr txBox="1"/>
          <p:nvPr/>
        </p:nvSpPr>
        <p:spPr>
          <a:xfrm>
            <a:off x="8686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02</a:t>
            </a:r>
            <a:endParaRPr sz="1300" b="1" i="0">
              <a:solidFill>
                <a:srgbClr val="FFFFFF"/>
              </a:solidFill>
              <a:latin typeface="Arial" panose="020B0604020202020204"/>
            </a:endParaRPr>
          </a:p>
        </p:txBody>
      </p:sp>
      <p:sp>
        <p:nvSpPr>
          <p:cNvPr id="10" name="TextBox 9"/>
          <p:cNvSpPr txBox="1"/>
          <p:nvPr/>
        </p:nvSpPr>
        <p:spPr>
          <a:xfrm>
            <a:off x="15819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Two examples of AI at work</a:t>
            </a:r>
            <a:endParaRPr sz="1400" b="1" i="0">
              <a:solidFill>
                <a:srgbClr val="00081D"/>
              </a:solidFill>
              <a:latin typeface="Arial" panose="020B0604020202020204"/>
            </a:endParaRPr>
          </a:p>
        </p:txBody>
      </p:sp>
      <p:pic>
        <p:nvPicPr>
          <p:cNvPr id="11" name="Picture 10" descr="image.png"/>
          <p:cNvPicPr>
            <a:picLocks noChangeAspect="1"/>
          </p:cNvPicPr>
          <p:nvPr/>
        </p:nvPicPr>
        <p:blipFill>
          <a:blip r:embed="rId2"/>
          <a:stretch>
            <a:fillRect/>
          </a:stretch>
        </p:blipFill>
        <p:spPr>
          <a:xfrm>
            <a:off x="868680" y="4069079"/>
            <a:ext cx="475488" cy="475488"/>
          </a:xfrm>
          <a:prstGeom prst="rect">
            <a:avLst/>
          </a:prstGeom>
        </p:spPr>
      </p:pic>
      <p:sp>
        <p:nvSpPr>
          <p:cNvPr id="12" name="TextBox 11"/>
          <p:cNvSpPr txBox="1"/>
          <p:nvPr/>
        </p:nvSpPr>
        <p:spPr>
          <a:xfrm>
            <a:off x="8686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03</a:t>
            </a:r>
            <a:endParaRPr sz="1300" b="1" i="0">
              <a:solidFill>
                <a:srgbClr val="FFFFFF"/>
              </a:solidFill>
              <a:latin typeface="Arial" panose="020B0604020202020204"/>
            </a:endParaRPr>
          </a:p>
        </p:txBody>
      </p:sp>
      <p:sp>
        <p:nvSpPr>
          <p:cNvPr id="13" name="TextBox 12"/>
          <p:cNvSpPr txBox="1"/>
          <p:nvPr/>
        </p:nvSpPr>
        <p:spPr>
          <a:xfrm>
            <a:off x="15819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AI tools and differences according to accounts</a:t>
            </a:r>
            <a:endParaRPr sz="1400" b="1" i="0">
              <a:solidFill>
                <a:srgbClr val="00081D"/>
              </a:solidFill>
              <a:latin typeface="Arial" panose="020B0604020202020204"/>
            </a:endParaRPr>
          </a:p>
        </p:txBody>
      </p:sp>
      <p:pic>
        <p:nvPicPr>
          <p:cNvPr id="14" name="Picture 13" descr="image.png"/>
          <p:cNvPicPr>
            <a:picLocks noChangeAspect="1"/>
          </p:cNvPicPr>
          <p:nvPr/>
        </p:nvPicPr>
        <p:blipFill>
          <a:blip r:embed="rId2"/>
          <a:stretch>
            <a:fillRect/>
          </a:stretch>
        </p:blipFill>
        <p:spPr>
          <a:xfrm>
            <a:off x="868680" y="5120640"/>
            <a:ext cx="475488" cy="475488"/>
          </a:xfrm>
          <a:prstGeom prst="rect">
            <a:avLst/>
          </a:prstGeom>
        </p:spPr>
      </p:pic>
      <p:sp>
        <p:nvSpPr>
          <p:cNvPr id="15" name="TextBox 14"/>
          <p:cNvSpPr txBox="1"/>
          <p:nvPr/>
        </p:nvSpPr>
        <p:spPr>
          <a:xfrm>
            <a:off x="8686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04</a:t>
            </a:r>
            <a:endParaRPr sz="1300" b="1" i="0">
              <a:solidFill>
                <a:srgbClr val="FFFFFF"/>
              </a:solidFill>
              <a:latin typeface="Arial" panose="020B0604020202020204"/>
            </a:endParaRPr>
          </a:p>
        </p:txBody>
      </p:sp>
      <p:sp>
        <p:nvSpPr>
          <p:cNvPr id="16" name="TextBox 15"/>
          <p:cNvSpPr txBox="1"/>
          <p:nvPr/>
        </p:nvSpPr>
        <p:spPr>
          <a:xfrm>
            <a:off x="15819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Before you automate: is AI in the loop?</a:t>
            </a:r>
            <a:endParaRPr sz="1400" b="1" i="0">
              <a:solidFill>
                <a:srgbClr val="00081D"/>
              </a:solidFill>
              <a:latin typeface="Arial" panose="020B0604020202020204"/>
            </a:endParaRPr>
          </a:p>
        </p:txBody>
      </p:sp>
      <p:pic>
        <p:nvPicPr>
          <p:cNvPr id="17" name="Picture 16" descr="image.png"/>
          <p:cNvPicPr>
            <a:picLocks noChangeAspect="1"/>
          </p:cNvPicPr>
          <p:nvPr/>
        </p:nvPicPr>
        <p:blipFill>
          <a:blip r:embed="rId2"/>
          <a:stretch>
            <a:fillRect/>
          </a:stretch>
        </p:blipFill>
        <p:spPr>
          <a:xfrm>
            <a:off x="6355080" y="1965960"/>
            <a:ext cx="475488" cy="475488"/>
          </a:xfrm>
          <a:prstGeom prst="rect">
            <a:avLst/>
          </a:prstGeom>
        </p:spPr>
      </p:pic>
      <p:sp>
        <p:nvSpPr>
          <p:cNvPr id="18" name="TextBox 17"/>
          <p:cNvSpPr txBox="1"/>
          <p:nvPr/>
        </p:nvSpPr>
        <p:spPr>
          <a:xfrm>
            <a:off x="63550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05</a:t>
            </a:r>
            <a:endParaRPr sz="1300" b="1" i="0">
              <a:solidFill>
                <a:srgbClr val="FFFFFF"/>
              </a:solidFill>
              <a:latin typeface="Arial" panose="020B0604020202020204"/>
            </a:endParaRPr>
          </a:p>
        </p:txBody>
      </p:sp>
      <p:sp>
        <p:nvSpPr>
          <p:cNvPr id="19" name="TextBox 18"/>
          <p:cNvSpPr txBox="1"/>
          <p:nvPr/>
        </p:nvSpPr>
        <p:spPr>
          <a:xfrm>
            <a:off x="70683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Some examples of how to use AI</a:t>
            </a:r>
            <a:endParaRPr sz="1400" b="1" i="0">
              <a:solidFill>
                <a:srgbClr val="00081D"/>
              </a:solidFill>
              <a:latin typeface="Arial" panose="020B0604020202020204"/>
            </a:endParaRPr>
          </a:p>
        </p:txBody>
      </p:sp>
      <p:pic>
        <p:nvPicPr>
          <p:cNvPr id="20" name="Picture 19" descr="image.png"/>
          <p:cNvPicPr>
            <a:picLocks noChangeAspect="1"/>
          </p:cNvPicPr>
          <p:nvPr/>
        </p:nvPicPr>
        <p:blipFill>
          <a:blip r:embed="rId2"/>
          <a:stretch>
            <a:fillRect/>
          </a:stretch>
        </p:blipFill>
        <p:spPr>
          <a:xfrm>
            <a:off x="6355080" y="3017520"/>
            <a:ext cx="475488" cy="475488"/>
          </a:xfrm>
          <a:prstGeom prst="rect">
            <a:avLst/>
          </a:prstGeom>
        </p:spPr>
      </p:pic>
      <p:sp>
        <p:nvSpPr>
          <p:cNvPr id="21" name="TextBox 20"/>
          <p:cNvSpPr txBox="1"/>
          <p:nvPr/>
        </p:nvSpPr>
        <p:spPr>
          <a:xfrm>
            <a:off x="63550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06</a:t>
            </a:r>
            <a:endParaRPr sz="1300" b="1" i="0">
              <a:solidFill>
                <a:srgbClr val="FFFFFF"/>
              </a:solidFill>
              <a:latin typeface="Arial" panose="020B0604020202020204"/>
            </a:endParaRPr>
          </a:p>
        </p:txBody>
      </p:sp>
      <p:sp>
        <p:nvSpPr>
          <p:cNvPr id="22" name="TextBox 21"/>
          <p:cNvSpPr txBox="1"/>
          <p:nvPr/>
        </p:nvSpPr>
        <p:spPr>
          <a:xfrm>
            <a:off x="70683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Examples of what not to share</a:t>
            </a:r>
            <a:endParaRPr sz="1400" b="1" i="0">
              <a:solidFill>
                <a:srgbClr val="00081D"/>
              </a:solidFill>
              <a:latin typeface="Arial" panose="020B0604020202020204"/>
            </a:endParaRPr>
          </a:p>
        </p:txBody>
      </p:sp>
      <p:pic>
        <p:nvPicPr>
          <p:cNvPr id="23" name="Picture 22" descr="image.png"/>
          <p:cNvPicPr>
            <a:picLocks noChangeAspect="1"/>
          </p:cNvPicPr>
          <p:nvPr/>
        </p:nvPicPr>
        <p:blipFill>
          <a:blip r:embed="rId2"/>
          <a:stretch>
            <a:fillRect/>
          </a:stretch>
        </p:blipFill>
        <p:spPr>
          <a:xfrm>
            <a:off x="6355080" y="4069079"/>
            <a:ext cx="475488" cy="475488"/>
          </a:xfrm>
          <a:prstGeom prst="rect">
            <a:avLst/>
          </a:prstGeom>
        </p:spPr>
      </p:pic>
      <p:sp>
        <p:nvSpPr>
          <p:cNvPr id="24" name="TextBox 23"/>
          <p:cNvSpPr txBox="1"/>
          <p:nvPr/>
        </p:nvSpPr>
        <p:spPr>
          <a:xfrm>
            <a:off x="63550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07</a:t>
            </a:r>
            <a:endParaRPr sz="1300" b="1" i="0">
              <a:solidFill>
                <a:srgbClr val="FFFFFF"/>
              </a:solidFill>
              <a:latin typeface="Arial" panose="020B0604020202020204"/>
            </a:endParaRPr>
          </a:p>
        </p:txBody>
      </p:sp>
      <p:sp>
        <p:nvSpPr>
          <p:cNvPr id="25" name="TextBox 24"/>
          <p:cNvSpPr txBox="1"/>
          <p:nvPr/>
        </p:nvSpPr>
        <p:spPr>
          <a:xfrm>
            <a:off x="70683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Why AI makes things up</a:t>
            </a:r>
            <a:endParaRPr sz="1400" b="1" i="0">
              <a:solidFill>
                <a:srgbClr val="00081D"/>
              </a:solidFill>
              <a:latin typeface="Arial" panose="020B0604020202020204"/>
            </a:endParaRPr>
          </a:p>
        </p:txBody>
      </p:sp>
      <p:pic>
        <p:nvPicPr>
          <p:cNvPr id="26" name="Picture 25" descr="image.png"/>
          <p:cNvPicPr>
            <a:picLocks noChangeAspect="1"/>
          </p:cNvPicPr>
          <p:nvPr/>
        </p:nvPicPr>
        <p:blipFill>
          <a:blip r:embed="rId2"/>
          <a:stretch>
            <a:fillRect/>
          </a:stretch>
        </p:blipFill>
        <p:spPr>
          <a:xfrm>
            <a:off x="6355080" y="5120640"/>
            <a:ext cx="475488" cy="475488"/>
          </a:xfrm>
          <a:prstGeom prst="rect">
            <a:avLst/>
          </a:prstGeom>
        </p:spPr>
      </p:pic>
      <p:sp>
        <p:nvSpPr>
          <p:cNvPr id="27" name="TextBox 26"/>
          <p:cNvSpPr txBox="1"/>
          <p:nvPr/>
        </p:nvSpPr>
        <p:spPr>
          <a:xfrm>
            <a:off x="63550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08</a:t>
            </a:r>
            <a:endParaRPr sz="1300" b="1" i="0">
              <a:solidFill>
                <a:srgbClr val="FFFFFF"/>
              </a:solidFill>
              <a:latin typeface="Arial" panose="020B0604020202020204"/>
            </a:endParaRPr>
          </a:p>
        </p:txBody>
      </p:sp>
      <p:sp>
        <p:nvSpPr>
          <p:cNvPr id="28" name="TextBox 27"/>
          <p:cNvSpPr txBox="1"/>
          <p:nvPr/>
        </p:nvSpPr>
        <p:spPr>
          <a:xfrm>
            <a:off x="70683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Who owns what it writes?</a:t>
            </a:r>
            <a:endParaRPr sz="1400" b="1" i="0">
              <a:solidFill>
                <a:srgbClr val="00081D"/>
              </a:solidFill>
              <a:latin typeface="Arial" panose="020B0604020202020204"/>
            </a:endParaRPr>
          </a:p>
        </p:txBody>
      </p:sp>
      <p:sp>
        <p:nvSpPr>
          <p:cNvPr id="29" name="TextBox 28"/>
          <p:cNvSpPr txBox="1"/>
          <p:nvPr/>
        </p:nvSpPr>
        <p:spPr>
          <a:xfrm>
            <a:off x="11320272" y="6556248"/>
            <a:ext cx="457200" cy="256032"/>
          </a:xfrm>
          <a:prstGeom prst="rect">
            <a:avLst/>
          </a:prstGeom>
          <a:noFill/>
        </p:spPr>
        <p:txBody>
          <a:bodyPr wrap="square" lIns="0" tIns="0" rIns="0" bIns="0" anchor="t">
            <a:spAutoFit/>
          </a:bodyPr>
          <a:lstStyle/>
          <a:p>
            <a:pPr algn="r"/>
            <a:r>
              <a:rPr sz="900" b="0" i="0">
                <a:solidFill>
                  <a:srgbClr val="8FA3B8"/>
                </a:solidFill>
                <a:latin typeface="Arial" panose="020B0604020202020204"/>
              </a:rPr>
              <a:t>2</a:t>
            </a:r>
            <a:endParaRPr sz="900" b="0" i="0">
              <a:solidFill>
                <a:srgbClr val="8FA3B8"/>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 few terms first, so we're all on the same page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model  (or “LLM”)</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The engine behind the AI chat tools out there. It's been trained on a huge pile of text to guess a good next answer. It doesn't know things the way a person does.</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Prompt</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Just what you type in: the question or instruction you give it. A better prompt gets you a better answer, which we'll come back to.</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Training data</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Everything a model has learned from. On some accounts, what you type today can end up shaping tomorrow's version of the model, more on that shortly.</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agent</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tool built on top of a model that can actually go do something (search, calculate, pull a file) instead of just chatting back at you.</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AI hallucination</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When it states something false with total confidence: a rule, a source that simply doesn't exist. This is the one to remember: always check anything factual before you rely on it.</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Two examples of AI at work</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the only kinds out there, but a useful line to know.</a:t>
            </a:r>
            <a:endParaRPr lang="en-US" sz="1300" dirty="0"/>
          </a:p>
        </p:txBody>
      </p:sp>
      <p:pic>
        <p:nvPicPr>
          <p:cNvPr id="5" name="Image 1" descr="/home/claude/work/assets/panel_5.55x3.90.png"/>
          <p:cNvPicPr>
            <a:picLocks noChangeAspect="1"/>
          </p:cNvPicPr>
          <p:nvPr/>
        </p:nvPicPr>
        <p:blipFill>
          <a:blip r:embed="rId2"/>
          <a:stretch>
            <a:fillRect/>
          </a:stretch>
        </p:blipFill>
        <p:spPr>
          <a:xfrm>
            <a:off x="640080" y="1691640"/>
            <a:ext cx="5074920" cy="3566160"/>
          </a:xfrm>
          <a:prstGeom prst="rect">
            <a:avLst/>
          </a:prstGeom>
          <a:effectLst>
            <a:outerShdw blurRad="203200" dist="63500" dir="5400000" algn="bl" rotWithShape="0">
              <a:srgbClr val="3A2E6E">
                <a:alpha val="35000"/>
              </a:srgbClr>
            </a:outerShdw>
          </a:effectLst>
        </p:spPr>
      </p:pic>
      <p:pic>
        <p:nvPicPr>
          <p:cNvPr id="6" name="Image 2" descr="/home/claude/work/assets/badge_gradient.png"/>
          <p:cNvPicPr>
            <a:picLocks noChangeAspect="1"/>
          </p:cNvPicPr>
          <p:nvPr/>
        </p:nvPicPr>
        <p:blipFill>
          <a:blip r:embed="rId3"/>
          <a:stretch>
            <a:fillRect/>
          </a:stretch>
        </p:blipFill>
        <p:spPr>
          <a:xfrm>
            <a:off x="960120" y="2057400"/>
            <a:ext cx="640080" cy="640080"/>
          </a:xfrm>
          <a:prstGeom prst="rect">
            <a:avLst/>
          </a:prstGeom>
          <a:effectLst>
            <a:outerShdw blurRad="76200" dist="25400" dir="5400000" algn="bl" rotWithShape="0">
              <a:srgbClr val="3A2E6E">
                <a:alpha val="30000"/>
              </a:srgbClr>
            </a:outerShdw>
          </a:effectLst>
        </p:spPr>
      </p:pic>
      <p:sp>
        <p:nvSpPr>
          <p:cNvPr id="7" name="Text 2"/>
          <p:cNvSpPr txBox="1"/>
          <p:nvPr/>
        </p:nvSpPr>
        <p:spPr>
          <a:xfrm>
            <a:off x="96012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2200" dirty="0"/>
          </a:p>
        </p:txBody>
      </p:sp>
      <p:sp>
        <p:nvSpPr>
          <p:cNvPr id="8" name="Text 3"/>
          <p:cNvSpPr txBox="1"/>
          <p:nvPr/>
        </p:nvSpPr>
        <p:spPr>
          <a:xfrm>
            <a:off x="1783080" y="2103120"/>
            <a:ext cx="3794760" cy="548640"/>
          </a:xfrm>
          <a:prstGeom prst="rect">
            <a:avLst/>
          </a:prstGeom>
          <a:noFill/>
        </p:spPr>
        <p:txBody>
          <a:bodyPr wrap="square" lIns="0" tIns="0" rIns="0" bIns="0" rtlCol="0" anchor="ctr"/>
          <a:lstStyle/>
          <a:p>
            <a:pPr marL="0" indent="0">
              <a:buNone/>
            </a:pPr>
            <a:r>
              <a:rPr lang="en-US" sz="1900" b="1" dirty="0">
                <a:solidFill>
                  <a:srgbClr val="FFFFFF"/>
                </a:solidFill>
                <a:latin typeface="Arial" panose="020B0604020202020204" pitchFamily="34" charset="0"/>
                <a:ea typeface="Arial" panose="020B0604020202020204" pitchFamily="34" charset="-122"/>
                <a:cs typeface="Arial" panose="020B0604020202020204" pitchFamily="34" charset="-120"/>
              </a:rPr>
              <a:t>Our own AI agent</a:t>
            </a:r>
            <a:endParaRPr lang="en-US" sz="1900" dirty="0"/>
          </a:p>
        </p:txBody>
      </p:sp>
      <p:sp>
        <p:nvSpPr>
          <p:cNvPr id="9" name="Text 4"/>
          <p:cNvSpPr txBox="1"/>
          <p:nvPr/>
        </p:nvSpPr>
        <p:spPr>
          <a:xfrm>
            <a:off x="96012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D6E6F5"/>
                </a:solidFill>
                <a:latin typeface="Arial" panose="020B0604020202020204" pitchFamily="34" charset="0"/>
                <a:ea typeface="Arial" panose="020B0604020202020204" pitchFamily="34" charset="-122"/>
                <a:cs typeface="Arial" panose="020B0604020202020204" pitchFamily="34" charset="-120"/>
              </a:rPr>
              <a:t>Something the company sets up and controls itself. It might run on the same kind of model as any public AI chat tool under the hood, but it lives inside our own systems, with our own rules about what it can see and where the data goes.</a:t>
            </a:r>
            <a:endParaRPr lang="en-US" sz="1350" dirty="0"/>
          </a:p>
        </p:txBody>
      </p:sp>
      <p:sp>
        <p:nvSpPr>
          <p:cNvPr id="10" name="Text 5"/>
          <p:cNvSpPr txBox="1"/>
          <p:nvPr/>
        </p:nvSpPr>
        <p:spPr>
          <a:xfrm>
            <a:off x="96012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D6E6F5"/>
                </a:solidFill>
                <a:latin typeface="Arial" panose="020B0604020202020204" pitchFamily="34" charset="0"/>
                <a:ea typeface="Arial" panose="020B0604020202020204" pitchFamily="34" charset="-122"/>
                <a:cs typeface="Arial" panose="020B0604020202020204" pitchFamily="34" charset="-120"/>
              </a:rPr>
              <a:t>Examples: an internal assistant IT built for us, a tool wired directly into our own systems and data.</a:t>
            </a:r>
            <a:endParaRPr lang="en-US" sz="1150" dirty="0"/>
          </a:p>
        </p:txBody>
      </p:sp>
      <p:sp>
        <p:nvSpPr>
          <p:cNvPr id="11" name="Shape 6"/>
          <p:cNvSpPr/>
          <p:nvPr/>
        </p:nvSpPr>
        <p:spPr>
          <a:xfrm>
            <a:off x="6172200" y="1691640"/>
            <a:ext cx="5074920" cy="3566160"/>
          </a:xfrm>
          <a:prstGeom prst="roundRect">
            <a:avLst>
              <a:gd name="adj" fmla="val 3846"/>
            </a:avLst>
          </a:prstGeom>
          <a:solidFill>
            <a:srgbClr val="F2F5FA"/>
          </a:solidFill>
          <a:ln w="12700">
            <a:solidFill>
              <a:srgbClr val="DCE4EF"/>
            </a:solidFill>
            <a:prstDash val="solid"/>
          </a:ln>
          <a:effectLst>
            <a:outerShdw blurRad="101600" dist="38100" dir="5400000" algn="bl" rotWithShape="0">
              <a:srgbClr val="1A2B33">
                <a:alpha val="12000"/>
              </a:srgbClr>
            </a:outerShdw>
          </a:effectLst>
        </p:spPr>
      </p:sp>
      <p:pic>
        <p:nvPicPr>
          <p:cNvPr id="12" name="Image 3" descr="/home/claude/work/assets/badge_gradient_teal.png"/>
          <p:cNvPicPr>
            <a:picLocks noChangeAspect="1"/>
          </p:cNvPicPr>
          <p:nvPr/>
        </p:nvPicPr>
        <p:blipFill>
          <a:blip r:embed="rId4"/>
          <a:stretch>
            <a:fillRect/>
          </a:stretch>
        </p:blipFill>
        <p:spPr>
          <a:xfrm>
            <a:off x="6492240" y="2057400"/>
            <a:ext cx="640080" cy="640080"/>
          </a:xfrm>
          <a:prstGeom prst="rect">
            <a:avLst/>
          </a:prstGeom>
          <a:effectLst>
            <a:outerShdw blurRad="76200" dist="25400" dir="5400000" algn="bl" rotWithShape="0">
              <a:srgbClr val="3A2E6E">
                <a:alpha val="30000"/>
              </a:srgbClr>
            </a:outerShdw>
          </a:effectLst>
        </p:spPr>
      </p:pic>
      <p:sp>
        <p:nvSpPr>
          <p:cNvPr id="13" name="Text 7"/>
          <p:cNvSpPr txBox="1"/>
          <p:nvPr/>
        </p:nvSpPr>
        <p:spPr>
          <a:xfrm>
            <a:off x="649224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2200" dirty="0"/>
          </a:p>
        </p:txBody>
      </p:sp>
      <p:sp>
        <p:nvSpPr>
          <p:cNvPr id="14" name="Text 8"/>
          <p:cNvSpPr txBox="1"/>
          <p:nvPr/>
        </p:nvSpPr>
        <p:spPr>
          <a:xfrm>
            <a:off x="7315200" y="2103120"/>
            <a:ext cx="3794760" cy="548640"/>
          </a:xfrm>
          <a:prstGeom prst="rect">
            <a:avLst/>
          </a:prstGeom>
          <a:noFill/>
        </p:spPr>
        <p:txBody>
          <a:bodyPr wrap="square" lIns="0" tIns="0" rIns="0" bIns="0" rtlCol="0" anchor="ctr"/>
          <a:lstStyle/>
          <a:p>
            <a:pPr marL="0" indent="0">
              <a:buNone/>
            </a:pPr>
            <a:r>
              <a:rPr lang="en-US" sz="1900" b="1" dirty="0">
                <a:solidFill>
                  <a:srgbClr val="00081D"/>
                </a:solidFill>
                <a:latin typeface="Arial" panose="020B0604020202020204" pitchFamily="34" charset="0"/>
                <a:ea typeface="Arial" panose="020B0604020202020204" pitchFamily="34" charset="-122"/>
                <a:cs typeface="Arial" panose="020B0604020202020204" pitchFamily="34" charset="-120"/>
              </a:rPr>
              <a:t>An outside AI tool</a:t>
            </a:r>
            <a:endParaRPr lang="en-US" sz="1900" dirty="0"/>
          </a:p>
        </p:txBody>
      </p:sp>
      <p:sp>
        <p:nvSpPr>
          <p:cNvPr id="15" name="Text 9"/>
          <p:cNvSpPr txBox="1"/>
          <p:nvPr/>
        </p:nvSpPr>
        <p:spPr>
          <a:xfrm>
            <a:off x="649224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56606E"/>
                </a:solidFill>
                <a:latin typeface="Arial" panose="020B0604020202020204" pitchFamily="34" charset="0"/>
                <a:ea typeface="Arial" panose="020B0604020202020204" pitchFamily="34" charset="-122"/>
                <a:cs typeface="Arial" panose="020B0604020202020204" pitchFamily="34" charset="-120"/>
              </a:rPr>
              <a:t>Any AI chat tool you've signed up for yourself through a browser or an app. Genuinely useful. But the moment you're in it, you're a guest inside someone else's product, on their terms.</a:t>
            </a:r>
            <a:endParaRPr lang="en-US" sz="1350" dirty="0"/>
          </a:p>
        </p:txBody>
      </p:sp>
      <p:sp>
        <p:nvSpPr>
          <p:cNvPr id="16" name="Text 10"/>
          <p:cNvSpPr txBox="1"/>
          <p:nvPr/>
        </p:nvSpPr>
        <p:spPr>
          <a:xfrm>
            <a:off x="649224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Examples: a public AI chatbot on your own login, an AI app on your phone, any free browser extension that “adds AI” to something.</a:t>
            </a:r>
            <a:endParaRPr lang="en-US" sz="1150" dirty="0"/>
          </a:p>
        </p:txBody>
      </p:sp>
      <p:sp>
        <p:nvSpPr>
          <p:cNvPr id="17" name="Text 11"/>
          <p:cNvSpPr txBox="1"/>
          <p:nvPr/>
        </p:nvSpPr>
        <p:spPr>
          <a:xfrm>
            <a:off x="640080" y="5486400"/>
            <a:ext cx="10424160" cy="457200"/>
          </a:xfrm>
          <a:prstGeom prst="rect">
            <a:avLst/>
          </a:prstGeom>
          <a:noFill/>
        </p:spPr>
        <p:txBody>
          <a:bodyPr wrap="square" lIns="0" tIns="0" rIns="0" bIns="0" rtlCol="0" anchor="ctr"/>
          <a:lstStyle/>
          <a:p>
            <a:pPr marL="0" indent="0" algn="ctr">
              <a:buNone/>
            </a:pPr>
            <a:r>
              <a:rPr lang="en-US" sz="1400" b="1" i="1" dirty="0">
                <a:solidFill>
                  <a:srgbClr val="00081D"/>
                </a:solidFill>
                <a:latin typeface="Arial" panose="020B0604020202020204" pitchFamily="34" charset="0"/>
                <a:ea typeface="Arial" panose="020B0604020202020204" pitchFamily="34" charset="-122"/>
                <a:cs typeface="Arial" panose="020B0604020202020204" pitchFamily="34" charset="-120"/>
              </a:rPr>
              <a:t>Same kind of tool. Completely different rules about what happens to what you type.</a:t>
            </a:r>
            <a:endParaRPr lang="en-US" sz="1400" dirty="0"/>
          </a:p>
        </p:txBody>
      </p:sp>
      <p:sp>
        <p:nvSpPr>
          <p:cNvPr id="18" name="Text 1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AI tools and differences according to accounts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Free, paid personal, and business accounts are three different contracts, not three price points on the same thing.</a:t>
            </a:r>
            <a:endParaRPr lang="en-US" sz="1300" dirty="0"/>
          </a:p>
        </p:txBody>
      </p:sp>
      <p:graphicFrame>
        <p:nvGraphicFramePr>
          <p:cNvPr id="5" name="Table 0"/>
          <p:cNvGraphicFramePr>
            <a:graphicFrameLocks noGrp="1"/>
          </p:cNvGraphicFramePr>
          <p:nvPr/>
        </p:nvGraphicFramePr>
        <p:xfrm>
          <a:off x="640080" y="1719072"/>
          <a:ext cx="10881360" cy="3017520"/>
        </p:xfrm>
        <a:graphic>
          <a:graphicData uri="http://schemas.openxmlformats.org/drawingml/2006/table">
            <a:tbl>
              <a:tblPr/>
              <a:tblGrid>
                <a:gridCol w="3200400"/>
                <a:gridCol w="2560320"/>
                <a:gridCol w="2560320"/>
                <a:gridCol w="2560320"/>
              </a:tblGrid>
              <a:tr h="603504">
                <a:tc>
                  <a:txBody>
                    <a:bodyPr/>
                    <a:lstStyle/>
                    <a:p>
                      <a:pPr marL="0" indent="0">
                        <a:buNone/>
                      </a:pP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F2F5FA"/>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(Free)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(Paid)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00081D"/>
                          </a:solidFill>
                          <a:latin typeface="Arial" panose="020B0604020202020204" pitchFamily="34" charset="0"/>
                          <a:ea typeface="Arial" panose="020B0604020202020204" pitchFamily="34" charset="-122"/>
                          <a:cs typeface="Arial" panose="020B0604020202020204" pitchFamily="34" charset="-120"/>
                        </a:rPr>
                        <a:t>Business / Enterprise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4592EF"/>
                    </a:solidFill>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Trains the model on what you type?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b="1" dirty="0">
                          <a:solidFill>
                            <a:srgbClr val="2CB2D7"/>
                          </a:solidFill>
                          <a:latin typeface="Arial" panose="020B0604020202020204" pitchFamily="34" charset="0"/>
                          <a:ea typeface="Arial" panose="020B0604020202020204" pitchFamily="34" charset="-122"/>
                          <a:cs typeface="Arial" panose="020B0604020202020204" pitchFamily="34" charset="-120"/>
                        </a:rPr>
                        <a:t>No, by default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Who can actually see it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Us, provider access is contractually limited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Data deletion on request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Rarely</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Sometimes</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Yes, configurable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Can the company manage the account?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Admin controls, company sign-in</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bl>
          </a:graphicData>
        </a:graphic>
      </p:graphicFrame>
      <p:sp>
        <p:nvSpPr>
          <p:cNvPr id="6" name="Text 2"/>
          <p:cNvSpPr txBox="1"/>
          <p:nvPr/>
        </p:nvSpPr>
        <p:spPr>
          <a:xfrm>
            <a:off x="640080" y="4893818"/>
            <a:ext cx="10881360" cy="32004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 paid personal subscription buys you a faster, better tool. It doesn't buy you privacy.</a:t>
            </a:r>
            <a:r>
              <a:rPr lang="en-US" sz="1250"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 </a:t>
            </a:r>
            <a:endParaRPr lang="en-US" sz="1250" dirty="0"/>
          </a:p>
        </p:txBody>
      </p:sp>
      <p:sp>
        <p:nvSpPr>
          <p:cNvPr id="7" name="Shape 3"/>
          <p:cNvSpPr/>
          <p:nvPr/>
        </p:nvSpPr>
        <p:spPr>
          <a:xfrm>
            <a:off x="45085" y="5766435"/>
            <a:ext cx="11275060" cy="789940"/>
          </a:xfrm>
          <a:prstGeom prst="roundRect">
            <a:avLst>
              <a:gd name="adj" fmla="val 16000"/>
            </a:avLst>
          </a:prstGeom>
          <a:solidFill>
            <a:srgbClr val="F2F5FA"/>
          </a:solidFill>
          <a:effectLst>
            <a:outerShdw blurRad="101600" dist="38100" dir="5400000" algn="bl" rotWithShape="0">
              <a:srgbClr val="1A2B33">
                <a:alpha val="12000"/>
              </a:srgbClr>
            </a:outerShdw>
          </a:effectLst>
        </p:spPr>
      </p:sp>
      <p:sp>
        <p:nvSpPr>
          <p:cNvPr id="8" name="Text 4"/>
          <p:cNvSpPr txBox="1"/>
          <p:nvPr/>
        </p:nvSpPr>
        <p:spPr>
          <a:xfrm>
            <a:off x="201295" y="5213985"/>
            <a:ext cx="10963275" cy="1964055"/>
          </a:xfrm>
          <a:prstGeom prst="rect">
            <a:avLst/>
          </a:prstGeom>
          <a:noFill/>
        </p:spPr>
        <p:txBody>
          <a:bodyPr wrap="square" lIns="0" tIns="0" rIns="0" bIns="0" rtlCol="0" anchor="ctr"/>
          <a:lstStyle/>
          <a:p>
            <a:pPr marL="0" indent="0">
              <a:lnSpc>
                <a:spcPts val="1500"/>
              </a:lnSpc>
              <a:buNone/>
            </a:pPr>
            <a:r>
              <a:rPr lang="en-US"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Disclaimer: </a:t>
            </a: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data policies like these change constantly and vary by provider, so check the tool's own current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 xml:space="preserve"> data policy and go into its Data Controls yourself. Don't assume the default is doing what you want.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p:txBody>
      </p:sp>
      <p:sp>
        <p:nvSpPr>
          <p:cNvPr id="9" name="Text 5"/>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800" dirty="0">
                <a:solidFill>
                  <a:srgbClr val="FFFFFF"/>
                </a:solidFill>
                <a:latin typeface="Arial" panose="020B0604020202020204" pitchFamily="34" charset="0"/>
                <a:ea typeface="Arial" panose="020B0604020202020204" pitchFamily="34" charset="-122"/>
                <a:cs typeface="Arial" panose="020B0604020202020204" pitchFamily="34" charset="-120"/>
              </a:rPr>
              <a:t>Before you automate: is AI actually in the loop?</a:t>
            </a:r>
            <a:endParaRPr lang="en-US" sz="28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every automation needs what's on the last page. The ones with an AI step do.</a:t>
            </a:r>
            <a:endParaRPr lang="en-US" sz="1300" dirty="0"/>
          </a:p>
        </p:txBody>
      </p:sp>
      <p:sp>
        <p:nvSpPr>
          <p:cNvPr id="5" name="Shape 2"/>
          <p:cNvSpPr/>
          <p:nvPr/>
        </p:nvSpPr>
        <p:spPr>
          <a:xfrm>
            <a:off x="640080" y="1664208"/>
            <a:ext cx="5074920" cy="2103120"/>
          </a:xfrm>
          <a:prstGeom prst="roundRect">
            <a:avLst>
              <a:gd name="adj" fmla="val 6522"/>
            </a:avLst>
          </a:prstGeom>
          <a:solidFill>
            <a:srgbClr val="F2F5FA"/>
          </a:solidFill>
          <a:ln w="12700">
            <a:solidFill>
              <a:srgbClr val="DCE4EF"/>
            </a:solidFill>
            <a:prstDash val="solid"/>
          </a:ln>
          <a:effectLst>
            <a:outerShdw blurRad="101600" dist="38100" dir="5400000" algn="bl" rotWithShape="0">
              <a:srgbClr val="1A2B33">
                <a:alpha val="10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1956816"/>
            <a:ext cx="530352" cy="530352"/>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1956816"/>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1664208" y="1975104"/>
            <a:ext cx="3794760" cy="41148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No AI involved</a:t>
            </a:r>
            <a:endParaRPr lang="en-US" sz="1650" dirty="0"/>
          </a:p>
        </p:txBody>
      </p:sp>
      <p:sp>
        <p:nvSpPr>
          <p:cNvPr id="9" name="Text 5"/>
          <p:cNvSpPr txBox="1"/>
          <p:nvPr/>
        </p:nvSpPr>
        <p:spPr>
          <a:xfrm>
            <a:off x="960120" y="2505456"/>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scheduled export, a template macro, a straightforward rules engine moving data from one place to another. Normal build, test, and sign-off process applies, same as any other process change.</a:t>
            </a:r>
            <a:endParaRPr lang="en-US" sz="1150" dirty="0"/>
          </a:p>
        </p:txBody>
      </p:sp>
      <p:pic>
        <p:nvPicPr>
          <p:cNvPr id="10" name="Image 2" descr="/home/claude/work/assets/panel_5.55x2.35.png"/>
          <p:cNvPicPr>
            <a:picLocks noChangeAspect="1"/>
          </p:cNvPicPr>
          <p:nvPr/>
        </p:nvPicPr>
        <p:blipFill>
          <a:blip r:embed="rId3"/>
          <a:stretch>
            <a:fillRect/>
          </a:stretch>
        </p:blipFill>
        <p:spPr>
          <a:xfrm>
            <a:off x="640080" y="3995928"/>
            <a:ext cx="5074920" cy="2148840"/>
          </a:xfrm>
          <a:prstGeom prst="rect">
            <a:avLst/>
          </a:prstGeom>
          <a:effectLst>
            <a:outerShdw blurRad="203200" dist="63500" dir="5400000" algn="bl" rotWithShape="0">
              <a:srgbClr val="3A2E6E">
                <a:alpha val="35000"/>
              </a:srgbClr>
            </a:outerShdw>
          </a:effectLst>
        </p:spPr>
      </p:pic>
      <p:pic>
        <p:nvPicPr>
          <p:cNvPr id="11" name="Image 3" descr="/home/claude/work/assets/badge_gradient.png"/>
          <p:cNvPicPr>
            <a:picLocks noChangeAspect="1"/>
          </p:cNvPicPr>
          <p:nvPr/>
        </p:nvPicPr>
        <p:blipFill>
          <a:blip r:embed="rId4"/>
          <a:stretch>
            <a:fillRect/>
          </a:stretch>
        </p:blipFill>
        <p:spPr>
          <a:xfrm>
            <a:off x="960120" y="4250131"/>
            <a:ext cx="530352" cy="530352"/>
          </a:xfrm>
          <a:prstGeom prst="rect">
            <a:avLst/>
          </a:prstGeom>
          <a:effectLst>
            <a:outerShdw blurRad="76200" dist="25400" dir="5400000" algn="bl" rotWithShape="0">
              <a:srgbClr val="3A2E6E">
                <a:alpha val="30000"/>
              </a:srgbClr>
            </a:outerShdw>
          </a:effectLst>
        </p:spPr>
      </p:pic>
      <p:sp>
        <p:nvSpPr>
          <p:cNvPr id="12" name="Text 6"/>
          <p:cNvSpPr txBox="1"/>
          <p:nvPr/>
        </p:nvSpPr>
        <p:spPr>
          <a:xfrm>
            <a:off x="960120" y="4250131"/>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7"/>
          <p:cNvSpPr txBox="1"/>
          <p:nvPr/>
        </p:nvSpPr>
        <p:spPr>
          <a:xfrm>
            <a:off x="1664208" y="4369003"/>
            <a:ext cx="3794760" cy="411480"/>
          </a:xfrm>
          <a:prstGeom prst="rect">
            <a:avLst/>
          </a:prstGeom>
          <a:noFill/>
        </p:spPr>
        <p:txBody>
          <a:bodyPr wrap="square" lIns="0" tIns="0" rIns="0" bIns="0" rtlCol="0" anchor="ctr"/>
          <a:lstStyle/>
          <a:p>
            <a:pPr marL="0" indent="0">
              <a:buNone/>
            </a:pPr>
            <a:r>
              <a:rPr lang="en-US" sz="1650" b="1" dirty="0">
                <a:solidFill>
                  <a:srgbClr val="FFFFFF"/>
                </a:solidFill>
                <a:latin typeface="Arial" panose="020B0604020202020204" pitchFamily="34" charset="0"/>
                <a:ea typeface="Arial" panose="020B0604020202020204" pitchFamily="34" charset="-122"/>
                <a:cs typeface="Arial" panose="020B0604020202020204" pitchFamily="34" charset="-120"/>
              </a:rPr>
              <a:t>AI is one of the steps</a:t>
            </a:r>
            <a:endParaRPr lang="en-US" sz="1650" dirty="0"/>
          </a:p>
        </p:txBody>
      </p:sp>
      <p:sp>
        <p:nvSpPr>
          <p:cNvPr id="14" name="Text 8"/>
          <p:cNvSpPr txBox="1"/>
          <p:nvPr/>
        </p:nvSpPr>
        <p:spPr>
          <a:xfrm>
            <a:off x="1024128" y="4872838"/>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D6E6F5"/>
                </a:solidFill>
                <a:latin typeface="Arial" panose="020B0604020202020204" pitchFamily="34" charset="0"/>
                <a:ea typeface="Arial" panose="020B0604020202020204" pitchFamily="34" charset="-122"/>
                <a:cs typeface="Arial" panose="020B0604020202020204" pitchFamily="34" charset="-120"/>
              </a:rPr>
              <a:t>If any step reads, summarises, decides, or drafts using an AI model, it inherits the same account rules from the last page. Test it on made-up data first, and write down what each piece of that made-up data stands in for.</a:t>
            </a:r>
            <a:endParaRPr lang="en-US" sz="1150" dirty="0"/>
          </a:p>
        </p:txBody>
      </p:sp>
      <p:pic>
        <p:nvPicPr>
          <p:cNvPr id="15" name="Image 4" descr="/home/claude/work/assets/viz_workflow_photo.png"/>
          <p:cNvPicPr>
            <a:picLocks noChangeAspect="1"/>
          </p:cNvPicPr>
          <p:nvPr/>
        </p:nvPicPr>
        <p:blipFill>
          <a:blip r:embed="rId5"/>
          <a:srcRect b="26085"/>
          <a:stretch>
            <a:fillRect/>
          </a:stretch>
        </p:blipFill>
        <p:spPr>
          <a:xfrm>
            <a:off x="5986780" y="2505710"/>
            <a:ext cx="5941060" cy="2672080"/>
          </a:xfrm>
          <a:prstGeom prst="rect">
            <a:avLst/>
          </a:prstGeom>
          <a:effectLst>
            <a:innerShdw blurRad="114300">
              <a:prstClr val="black"/>
            </a:innerShdw>
          </a:effectLst>
        </p:spPr>
      </p:pic>
      <p:sp>
        <p:nvSpPr>
          <p:cNvPr id="16" name="Text 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Some examples of how to use AI</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None of this needs code, and none of it needs a new system.</a:t>
            </a:r>
            <a:endParaRPr lang="en-US" sz="1300" dirty="0"/>
          </a:p>
        </p:txBody>
      </p:sp>
      <p:sp>
        <p:nvSpPr>
          <p:cNvPr id="5" name="Shape 2"/>
          <p:cNvSpPr/>
          <p:nvPr/>
        </p:nvSpPr>
        <p:spPr>
          <a:xfrm>
            <a:off x="64008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2011680"/>
            <a:ext cx="548640" cy="548640"/>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96012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an issue</a:t>
            </a:r>
            <a:endParaRPr lang="en-US" sz="1650" dirty="0"/>
          </a:p>
        </p:txBody>
      </p:sp>
      <p:sp>
        <p:nvSpPr>
          <p:cNvPr id="9" name="Text 5"/>
          <p:cNvSpPr txBox="1"/>
          <p:nvPr/>
        </p:nvSpPr>
        <p:spPr>
          <a:xfrm>
            <a:off x="96012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Describe what's going wrong in plain words and ask what usually causes that pattern.</a:t>
            </a:r>
            <a:endParaRPr lang="en-US" sz="1250" dirty="0"/>
          </a:p>
        </p:txBody>
      </p:sp>
      <p:sp>
        <p:nvSpPr>
          <p:cNvPr id="10" name="Shape 6"/>
          <p:cNvSpPr/>
          <p:nvPr/>
        </p:nvSpPr>
        <p:spPr>
          <a:xfrm>
            <a:off x="438912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1" name="Image 2" descr="/home/claude/work/assets/badge_gradient_teal.png"/>
          <p:cNvPicPr>
            <a:picLocks noChangeAspect="1"/>
          </p:cNvPicPr>
          <p:nvPr/>
        </p:nvPicPr>
        <p:blipFill>
          <a:blip r:embed="rId2"/>
          <a:stretch>
            <a:fillRect/>
          </a:stretch>
        </p:blipFill>
        <p:spPr>
          <a:xfrm>
            <a:off x="4709160" y="2011680"/>
            <a:ext cx="548640" cy="54864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470916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8"/>
          <p:cNvSpPr txBox="1"/>
          <p:nvPr/>
        </p:nvSpPr>
        <p:spPr>
          <a:xfrm>
            <a:off x="470916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Checking your writing</a:t>
            </a:r>
            <a:endParaRPr lang="en-US" sz="1650" dirty="0"/>
          </a:p>
        </p:txBody>
      </p:sp>
      <p:sp>
        <p:nvSpPr>
          <p:cNvPr id="14" name="Text 9"/>
          <p:cNvSpPr txBox="1"/>
          <p:nvPr/>
        </p:nvSpPr>
        <p:spPr>
          <a:xfrm>
            <a:off x="470916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Ask it to find the gaps or the unclear bit before you send an email or a note.</a:t>
            </a:r>
            <a:endParaRPr lang="en-US" sz="1250" dirty="0"/>
          </a:p>
        </p:txBody>
      </p:sp>
      <p:sp>
        <p:nvSpPr>
          <p:cNvPr id="15" name="Shape 10"/>
          <p:cNvSpPr/>
          <p:nvPr/>
        </p:nvSpPr>
        <p:spPr>
          <a:xfrm>
            <a:off x="813816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6" name="Image 3" descr="/home/claude/work/assets/badge_gradient_teal.png"/>
          <p:cNvPicPr>
            <a:picLocks noChangeAspect="1"/>
          </p:cNvPicPr>
          <p:nvPr/>
        </p:nvPicPr>
        <p:blipFill>
          <a:blip r:embed="rId2"/>
          <a:stretch>
            <a:fillRect/>
          </a:stretch>
        </p:blipFill>
        <p:spPr>
          <a:xfrm>
            <a:off x="8458200" y="2011680"/>
            <a:ext cx="548640" cy="548640"/>
          </a:xfrm>
          <a:prstGeom prst="rect">
            <a:avLst/>
          </a:prstGeom>
          <a:effectLst>
            <a:outerShdw blurRad="76200" dist="25400" dir="5400000" algn="bl" rotWithShape="0">
              <a:srgbClr val="3A2E6E">
                <a:alpha val="30000"/>
              </a:srgbClr>
            </a:outerShdw>
          </a:effectLst>
        </p:spPr>
      </p:pic>
      <p:sp>
        <p:nvSpPr>
          <p:cNvPr id="17" name="Text 11"/>
          <p:cNvSpPr txBox="1"/>
          <p:nvPr/>
        </p:nvSpPr>
        <p:spPr>
          <a:xfrm>
            <a:off x="845820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800" dirty="0"/>
          </a:p>
        </p:txBody>
      </p:sp>
      <p:sp>
        <p:nvSpPr>
          <p:cNvPr id="18" name="Text 12"/>
          <p:cNvSpPr txBox="1"/>
          <p:nvPr/>
        </p:nvSpPr>
        <p:spPr>
          <a:xfrm>
            <a:off x="845820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new things</a:t>
            </a:r>
            <a:endParaRPr lang="en-US" sz="1650" dirty="0"/>
          </a:p>
        </p:txBody>
      </p:sp>
      <p:sp>
        <p:nvSpPr>
          <p:cNvPr id="19" name="Text 13"/>
          <p:cNvSpPr txBox="1"/>
          <p:nvPr/>
        </p:nvSpPr>
        <p:spPr>
          <a:xfrm>
            <a:off x="845820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Market terms, a system, contract language: explained in plain English, no client data needed.</a:t>
            </a:r>
            <a:endParaRPr lang="en-US" sz="1250" dirty="0"/>
          </a:p>
        </p:txBody>
      </p:sp>
      <p:pic>
        <p:nvPicPr>
          <p:cNvPr id="20" name="Image 4" descr="/home/claude/work/assets/viz_brain_city.png"/>
          <p:cNvPicPr>
            <a:picLocks noChangeAspect="1"/>
          </p:cNvPicPr>
          <p:nvPr/>
        </p:nvPicPr>
        <p:blipFill>
          <a:blip r:embed="rId3"/>
          <a:stretch>
            <a:fillRect/>
          </a:stretch>
        </p:blipFill>
        <p:spPr>
          <a:xfrm>
            <a:off x="640080" y="4983480"/>
            <a:ext cx="10881360" cy="1600200"/>
          </a:xfrm>
          <a:prstGeom prst="rect">
            <a:avLst/>
          </a:prstGeom>
          <a:effectLst>
            <a:outerShdw blurRad="152400" dist="50800" dir="5400000" algn="bl" rotWithShape="0">
              <a:srgbClr val="0A2A4A">
                <a:alpha val="22000"/>
              </a:srgbClr>
            </a:outerShdw>
          </a:effectLst>
        </p:spPr>
      </p:pic>
      <p:sp>
        <p:nvSpPr>
          <p:cNvPr id="21" name="Text 14"/>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Examples of what not to share</a:t>
            </a:r>
            <a:endParaRPr lang="en-US" sz="3000" dirty="0"/>
          </a:p>
        </p:txBody>
      </p:sp>
      <p:sp>
        <p:nvSpPr>
          <p:cNvPr id="4" name="Shape 1"/>
          <p:cNvSpPr/>
          <p:nvPr/>
        </p:nvSpPr>
        <p:spPr>
          <a:xfrm>
            <a:off x="640080" y="1600200"/>
            <a:ext cx="6583680" cy="3429000"/>
          </a:xfrm>
          <a:prstGeom prst="roundRect">
            <a:avLst>
              <a:gd name="adj" fmla="val 4000"/>
            </a:avLst>
          </a:prstGeom>
          <a:solidFill>
            <a:srgbClr val="FEEDED"/>
          </a:solidFill>
          <a:effectLst>
            <a:outerShdw blurRad="101600" dist="38100" dir="5400000" algn="bl" rotWithShape="0">
              <a:srgbClr val="1A2B33">
                <a:alpha val="12000"/>
              </a:srgbClr>
            </a:outerShdw>
          </a:effectLst>
        </p:spPr>
      </p:sp>
      <p:sp>
        <p:nvSpPr>
          <p:cNvPr id="5" name="Text 2"/>
          <p:cNvSpPr txBox="1"/>
          <p:nvPr/>
        </p:nvSpPr>
        <p:spPr>
          <a:xfrm>
            <a:off x="914400" y="1828800"/>
            <a:ext cx="6035040" cy="320040"/>
          </a:xfrm>
          <a:prstGeom prst="rect">
            <a:avLst/>
          </a:prstGeom>
          <a:noFill/>
        </p:spPr>
        <p:txBody>
          <a:bodyPr wrap="square" lIns="0" tIns="0" rIns="0" bIns="0" rtlCol="0" anchor="ctr"/>
          <a:lstStyle/>
          <a:p>
            <a:pPr marL="0" indent="0">
              <a:buNone/>
            </a:pPr>
            <a:r>
              <a:rPr lang="en-US" sz="1200" b="1" kern="0" spc="100" dirty="0">
                <a:solidFill>
                  <a:srgbClr val="FE5A5B"/>
                </a:solidFill>
                <a:latin typeface="Arial" panose="020B0604020202020204" pitchFamily="34" charset="0"/>
                <a:ea typeface="Arial" panose="020B0604020202020204" pitchFamily="34" charset="-122"/>
                <a:cs typeface="Arial" panose="020B0604020202020204" pitchFamily="34" charset="-120"/>
              </a:rPr>
              <a:t>NEVER PASTE THIS</a:t>
            </a:r>
            <a:endParaRPr lang="en-US" sz="1200" dirty="0"/>
          </a:p>
        </p:txBody>
      </p:sp>
      <p:sp>
        <p:nvSpPr>
          <p:cNvPr id="6" name="Text 3"/>
          <p:cNvSpPr txBox="1"/>
          <p:nvPr/>
        </p:nvSpPr>
        <p:spPr>
          <a:xfrm>
            <a:off x="914400" y="2240280"/>
            <a:ext cx="6035040" cy="1691640"/>
          </a:xfrm>
          <a:prstGeom prst="rect">
            <a:avLst/>
          </a:prstGeom>
          <a:noFill/>
        </p:spPr>
        <p:txBody>
          <a:bodyPr wrap="square" lIns="0" tIns="0" rIns="0" bIns="0" rtlCol="0" anchor="ctr"/>
          <a:lstStyle/>
          <a:p>
            <a:pPr marL="0" indent="0">
              <a:lnSpc>
                <a:spcPts val="2000"/>
              </a:lnSpc>
              <a:buNone/>
            </a:pP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Client: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Jane Doe, Acme Holdings Ltd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Account: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88-4471-02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Amount: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EUR 41,220, due 14 Mar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Login: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j.doe / ••••••••</a:t>
            </a:r>
            <a:endParaRPr lang="en-US" sz="1200" dirty="0"/>
          </a:p>
        </p:txBody>
      </p:sp>
      <p:sp>
        <p:nvSpPr>
          <p:cNvPr id="7" name="Text 4"/>
          <p:cNvSpPr txBox="1"/>
          <p:nvPr/>
        </p:nvSpPr>
        <p:spPr>
          <a:xfrm>
            <a:off x="914400" y="4343400"/>
            <a:ext cx="6035040" cy="548640"/>
          </a:xfrm>
          <a:prstGeom prst="rect">
            <a:avLst/>
          </a:prstGeom>
          <a:noFill/>
        </p:spPr>
        <p:txBody>
          <a:bodyPr wrap="square" lIns="0" tIns="0" rIns="0" bIns="0" rtlCol="0" anchor="ctr"/>
          <a:lstStyle/>
          <a:p>
            <a:pPr marL="0" indent="0">
              <a:lnSpc>
                <a:spcPts val="15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Names a person, a company, an account number, an amount, and a login. Once it's sent, it can't be pulled back.</a:t>
            </a:r>
            <a:endParaRPr lang="en-US" sz="1150" dirty="0"/>
          </a:p>
        </p:txBody>
      </p:sp>
      <p:sp>
        <p:nvSpPr>
          <p:cNvPr id="30" name="Shape Categories"/>
          <p:cNvSpPr/>
          <p:nvPr/>
        </p:nvSpPr>
        <p:spPr>
          <a:xfrm>
            <a:off x="7635240" y="1600200"/>
            <a:ext cx="4114800" cy="3429000"/>
          </a:xfrm>
          <a:prstGeom prst="roundRect">
            <a:avLst>
              <a:gd name="adj" fmla="val 4000"/>
            </a:avLst>
          </a:prstGeom>
          <a:solidFill>
            <a:srgbClr val="F2F5FA"/>
          </a:solidFill>
          <a:effectLst>
            <a:outerShdw blurRad="76200" dist="25400" dir="5400000" algn="bl" rotWithShape="0">
              <a:srgbClr val="000000">
                <a:alpha val="8000"/>
              </a:srgbClr>
            </a:outerShdw>
          </a:effectLst>
        </p:spPr>
      </p:sp>
      <p:sp>
        <p:nvSpPr>
          <p:cNvPr id="31" name="Text Categories Heading"/>
          <p:cNvSpPr txBox="1"/>
          <p:nvPr/>
        </p:nvSpPr>
        <p:spPr>
          <a:xfrm>
            <a:off x="7864920" y="1874520"/>
            <a:ext cx="3657600" cy="274320"/>
          </a:xfrm>
          <a:prstGeom prst="rect">
            <a:avLst/>
          </a:prstGeom>
          <a:noFill/>
        </p:spPr>
        <p:txBody>
          <a:bodyPr wrap="square" lIns="0" tIns="0" rIns="0" bIns="0" rtlCol="0" anchor="ctr"/>
          <a:lstStyle/>
          <a:p>
            <a:pPr marL="0" indent="0">
              <a:buNone/>
            </a:pPr>
            <a:r>
              <a:rPr lang="en-US" sz="1100" b="1" dirty="0">
                <a:solidFill>
                  <a:srgbClr val="0B1B33"/>
                </a:solidFill>
                <a:latin typeface="Arial" panose="020B0604020202020204" pitchFamily="34" charset="0"/>
              </a:rPr>
              <a:t>Also treat as sensitive:</a:t>
            </a:r>
            <a:endParaRPr lang="en-US" sz="1100" dirty="0"/>
          </a:p>
        </p:txBody>
      </p:sp>
      <p:sp>
        <p:nvSpPr>
          <p:cNvPr id="32" name="Text Cat1"/>
          <p:cNvSpPr txBox="1"/>
          <p:nvPr/>
        </p:nvSpPr>
        <p:spPr>
          <a:xfrm>
            <a:off x="7864920" y="2240280"/>
            <a:ext cx="3657600" cy="594360"/>
          </a:xfrm>
          <a:prstGeom prst="rect">
            <a:avLst/>
          </a:prstGeom>
          <a:noFill/>
        </p:spPr>
        <p:txBody>
          <a:bodyPr wrap="square" lIns="0" tIns="0" rIns="0" bIns="0" rtlCol="0" anchor="t"/>
          <a:lstStyle/>
          <a:p>
            <a:pPr marL="0" indent="0">
              <a:lnSpc>
                <a:spcPts val="1400"/>
              </a:lnSpc>
              <a:buNone/>
            </a:pPr>
            <a:r>
              <a:rPr lang="en-US" sz="1000" b="1" dirty="0">
                <a:solidFill>
                  <a:srgbClr val="0B1B33"/>
                </a:solidFill>
                <a:latin typeface="Arial" panose="020B0604020202020204" pitchFamily="34" charset="0"/>
              </a:rPr>
              <a:t>Client &amp; personal data </a:t>
            </a:r>
            <a:r>
              <a:rPr lang="en-US" sz="950" dirty="0">
                <a:solidFill>
                  <a:srgbClr val="56606E"/>
                </a:solidFill>
                <a:latin typeface="Arial" panose="020B0604020202020204" pitchFamily="34" charset="0"/>
              </a:rPr>
              <a:t>— names, employers, contact details.</a:t>
            </a:r>
            <a:endParaRPr lang="en-US" sz="950" dirty="0"/>
          </a:p>
        </p:txBody>
      </p:sp>
      <p:sp>
        <p:nvSpPr>
          <p:cNvPr id="33" name="Text Cat2"/>
          <p:cNvSpPr txBox="1"/>
          <p:nvPr/>
        </p:nvSpPr>
        <p:spPr>
          <a:xfrm>
            <a:off x="7864920" y="2926080"/>
            <a:ext cx="3657600" cy="594360"/>
          </a:xfrm>
          <a:prstGeom prst="rect">
            <a:avLst/>
          </a:prstGeom>
          <a:noFill/>
        </p:spPr>
        <p:txBody>
          <a:bodyPr wrap="square" lIns="0" tIns="0" rIns="0" bIns="0" rtlCol="0" anchor="t"/>
          <a:lstStyle/>
          <a:p>
            <a:pPr marL="0" indent="0">
              <a:lnSpc>
                <a:spcPts val="1400"/>
              </a:lnSpc>
              <a:buNone/>
            </a:pPr>
            <a:r>
              <a:rPr lang="en-US" sz="1000" b="1" dirty="0">
                <a:solidFill>
                  <a:srgbClr val="0B1B33"/>
                </a:solidFill>
                <a:latin typeface="Arial" panose="020B0604020202020204" pitchFamily="34" charset="0"/>
              </a:rPr>
              <a:t>Account &amp; case numbers </a:t>
            </a:r>
            <a:r>
              <a:rPr lang="en-US" sz="950" dirty="0">
                <a:solidFill>
                  <a:srgbClr val="56606E"/>
                </a:solidFill>
                <a:latin typeface="Arial" panose="020B0604020202020204" pitchFamily="34" charset="0"/>
              </a:rPr>
              <a:t>— anything that maps to a record.</a:t>
            </a:r>
            <a:endParaRPr lang="en-US" sz="950" dirty="0"/>
          </a:p>
        </p:txBody>
      </p:sp>
      <p:sp>
        <p:nvSpPr>
          <p:cNvPr id="34" name="Text Cat3"/>
          <p:cNvSpPr txBox="1"/>
          <p:nvPr/>
        </p:nvSpPr>
        <p:spPr>
          <a:xfrm>
            <a:off x="7864920" y="3611880"/>
            <a:ext cx="3657600" cy="594360"/>
          </a:xfrm>
          <a:prstGeom prst="rect">
            <a:avLst/>
          </a:prstGeom>
          <a:noFill/>
        </p:spPr>
        <p:txBody>
          <a:bodyPr wrap="square" lIns="0" tIns="0" rIns="0" bIns="0" rtlCol="0" anchor="t"/>
          <a:lstStyle/>
          <a:p>
            <a:pPr marL="0" indent="0">
              <a:lnSpc>
                <a:spcPts val="1400"/>
              </a:lnSpc>
              <a:buNone/>
            </a:pPr>
            <a:r>
              <a:rPr lang="en-US" sz="1000" b="1" dirty="0">
                <a:solidFill>
                  <a:srgbClr val="0B1B33"/>
                </a:solidFill>
                <a:latin typeface="Arial" panose="020B0604020202020204" pitchFamily="34" charset="0"/>
              </a:rPr>
              <a:t>Exact financial figures </a:t>
            </a:r>
            <a:r>
              <a:rPr lang="en-US" sz="950" dirty="0">
                <a:solidFill>
                  <a:srgbClr val="56606E"/>
                </a:solidFill>
                <a:latin typeface="Arial" panose="020B0604020202020204" pitchFamily="34" charset="0"/>
              </a:rPr>
              <a:t>— round amounts or describe them instead.</a:t>
            </a:r>
            <a:endParaRPr lang="en-US" sz="950" dirty="0"/>
          </a:p>
        </p:txBody>
      </p:sp>
      <p:sp>
        <p:nvSpPr>
          <p:cNvPr id="35" name="Text Cat4"/>
          <p:cNvSpPr txBox="1"/>
          <p:nvPr/>
        </p:nvSpPr>
        <p:spPr>
          <a:xfrm>
            <a:off x="7864920" y="4297680"/>
            <a:ext cx="3657600" cy="594360"/>
          </a:xfrm>
          <a:prstGeom prst="rect">
            <a:avLst/>
          </a:prstGeom>
          <a:noFill/>
        </p:spPr>
        <p:txBody>
          <a:bodyPr wrap="square" lIns="0" tIns="0" rIns="0" bIns="0" rtlCol="0" anchor="t"/>
          <a:lstStyle/>
          <a:p>
            <a:pPr marL="0" indent="0">
              <a:lnSpc>
                <a:spcPts val="1400"/>
              </a:lnSpc>
              <a:buNone/>
            </a:pPr>
            <a:r>
              <a:rPr lang="en-US" sz="1000" b="1" dirty="0">
                <a:solidFill>
                  <a:srgbClr val="0B1B33"/>
                </a:solidFill>
                <a:latin typeface="Arial" panose="020B0604020202020204" pitchFamily="34" charset="0"/>
              </a:rPr>
              <a:t>Credentials &amp; internal info </a:t>
            </a:r>
            <a:r>
              <a:rPr lang="en-US" sz="950" dirty="0">
                <a:solidFill>
                  <a:srgbClr val="56606E"/>
                </a:solidFill>
                <a:latin typeface="Arial" panose="020B0604020202020204" pitchFamily="34" charset="0"/>
              </a:rPr>
              <a:t>— logins, keys, anything not yet public.</a:t>
            </a:r>
            <a:endParaRPr lang="en-US" sz="950" dirty="0"/>
          </a:p>
        </p:txBody>
      </p:sp>
      <p:sp>
        <p:nvSpPr>
          <p:cNvPr id="9" name="Text 5"/>
          <p:cNvSpPr txBox="1"/>
          <p:nvPr/>
        </p:nvSpPr>
        <p:spPr>
          <a:xfrm>
            <a:off x="640080" y="5440680"/>
            <a:ext cx="10881360" cy="548640"/>
          </a:xfrm>
          <a:prstGeom prst="rect">
            <a:avLst/>
          </a:prstGeom>
          <a:noFill/>
        </p:spPr>
        <p:txBody>
          <a:bodyPr wrap="square" lIns="0" tIns="0" rIns="0" bIns="0" rtlCol="0" anchor="ctr"/>
          <a:lstStyle/>
          <a:p>
            <a:pPr marL="0" indent="0" algn="ctr">
              <a:buNone/>
            </a:pPr>
            <a:r>
              <a:rPr lang="en-US" sz="1400" b="1" dirty="0">
                <a:solidFill>
                  <a:srgbClr val="00081D"/>
                </a:solidFill>
                <a:latin typeface="Arial" panose="020B0604020202020204" pitchFamily="34" charset="0"/>
                <a:ea typeface="Arial" panose="020B0604020202020204" pitchFamily="34" charset="-122"/>
                <a:cs typeface="Arial" panose="020B0604020202020204" pitchFamily="34" charset="-120"/>
              </a:rPr>
              <a:t>Take out the who, keep the what. Names, account numbers and exact amounts come out; the actual problem stays in.</a:t>
            </a:r>
            <a:endParaRPr lang="en-US" sz="1400" dirty="0"/>
          </a:p>
        </p:txBody>
      </p:sp>
      <p:sp>
        <p:nvSpPr>
          <p:cNvPr id="10" name="Text 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600" dirty="0">
                <a:solidFill>
                  <a:srgbClr val="FFFFFF"/>
                </a:solidFill>
                <a:latin typeface="Arial" panose="020B0604020202020204" pitchFamily="34" charset="0"/>
                <a:ea typeface="Arial" panose="020B0604020202020204" pitchFamily="34" charset="-122"/>
                <a:cs typeface="Arial" panose="020B0604020202020204" pitchFamily="34" charset="-120"/>
              </a:rPr>
              <a:t>Why AI makes things up (and how to reduce it)</a:t>
            </a:r>
            <a:endParaRPr lang="en-US" sz="26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This matters most with an outside tool: there's no one behind it checking your specific answer.</a:t>
            </a:r>
            <a:endParaRPr lang="en-US" sz="1300" dirty="0"/>
          </a:p>
        </p:txBody>
      </p:sp>
      <p:pic>
        <p:nvPicPr>
          <p:cNvPr id="5" name="Image 1" descr="/home/claude/work/assets/panel_5.55x3.75.png"/>
          <p:cNvPicPr>
            <a:picLocks noChangeAspect="1"/>
          </p:cNvPicPr>
          <p:nvPr/>
        </p:nvPicPr>
        <p:blipFill>
          <a:blip r:embed="rId2"/>
          <a:stretch>
            <a:fillRect/>
          </a:stretch>
        </p:blipFill>
        <p:spPr>
          <a:xfrm>
            <a:off x="640080" y="1920240"/>
            <a:ext cx="5074920" cy="342900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2176272"/>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WHY IT HAPPENS</a:t>
            </a:r>
            <a:endParaRPr lang="en-US" sz="1250" dirty="0"/>
          </a:p>
        </p:txBody>
      </p:sp>
      <p:pic>
        <p:nvPicPr>
          <p:cNvPr id="7" name="Image 2" descr="/home/claude/work/assets/badge_gradient.png"/>
          <p:cNvPicPr>
            <a:picLocks noChangeAspect="1"/>
          </p:cNvPicPr>
          <p:nvPr/>
        </p:nvPicPr>
        <p:blipFill>
          <a:blip r:embed="rId3"/>
          <a:stretch>
            <a:fillRect/>
          </a:stretch>
        </p:blipFill>
        <p:spPr>
          <a:xfrm>
            <a:off x="914400" y="2633472"/>
            <a:ext cx="310896" cy="310896"/>
          </a:xfrm>
          <a:prstGeom prst="rect">
            <a:avLst/>
          </a:prstGeom>
          <a:effectLst>
            <a:outerShdw blurRad="76200" dist="25400" dir="5400000" algn="bl" rotWithShape="0">
              <a:srgbClr val="3A2E6E">
                <a:alpha val="30000"/>
              </a:srgbClr>
            </a:outerShdw>
          </a:effectLst>
        </p:spPr>
      </p:pic>
      <p:sp>
        <p:nvSpPr>
          <p:cNvPr id="8" name="Text 3"/>
          <p:cNvSpPr txBox="1"/>
          <p:nvPr/>
        </p:nvSpPr>
        <p:spPr>
          <a:xfrm>
            <a:off x="914400" y="2633472"/>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200" dirty="0"/>
          </a:p>
        </p:txBody>
      </p:sp>
      <p:sp>
        <p:nvSpPr>
          <p:cNvPr id="9" name="Text 4"/>
          <p:cNvSpPr txBox="1"/>
          <p:nvPr/>
        </p:nvSpPr>
        <p:spPr>
          <a:xfrm>
            <a:off x="1353312" y="2523744"/>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No access to our systems, it only knows what you tell it.</a:t>
            </a:r>
            <a:endParaRPr lang="en-US" sz="1100" dirty="0"/>
          </a:p>
        </p:txBody>
      </p:sp>
      <p:pic>
        <p:nvPicPr>
          <p:cNvPr id="10" name="Image 3" descr="/home/claude/work/assets/badge_gradient.png"/>
          <p:cNvPicPr>
            <a:picLocks noChangeAspect="1"/>
          </p:cNvPicPr>
          <p:nvPr/>
        </p:nvPicPr>
        <p:blipFill>
          <a:blip r:embed="rId3"/>
          <a:stretch>
            <a:fillRect/>
          </a:stretch>
        </p:blipFill>
        <p:spPr>
          <a:xfrm>
            <a:off x="914400" y="3300984"/>
            <a:ext cx="310896" cy="310896"/>
          </a:xfrm>
          <a:prstGeom prst="rect">
            <a:avLst/>
          </a:prstGeom>
          <a:effectLst>
            <a:outerShdw blurRad="76200" dist="25400" dir="5400000" algn="bl" rotWithShape="0">
              <a:srgbClr val="3A2E6E">
                <a:alpha val="30000"/>
              </a:srgbClr>
            </a:outerShdw>
          </a:effectLst>
        </p:spPr>
      </p:pic>
      <p:sp>
        <p:nvSpPr>
          <p:cNvPr id="11" name="Text 5"/>
          <p:cNvSpPr txBox="1"/>
          <p:nvPr/>
        </p:nvSpPr>
        <p:spPr>
          <a:xfrm>
            <a:off x="914400" y="3300984"/>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200" dirty="0"/>
          </a:p>
        </p:txBody>
      </p:sp>
      <p:sp>
        <p:nvSpPr>
          <p:cNvPr id="12" name="Text 6"/>
          <p:cNvSpPr txBox="1"/>
          <p:nvPr/>
        </p:nvSpPr>
        <p:spPr>
          <a:xfrm>
            <a:off x="1353312" y="3191256"/>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 has a cutoff date, a new rule or updated circular might not be in there yet.</a:t>
            </a:r>
            <a:endParaRPr lang="en-US" sz="1100" dirty="0"/>
          </a:p>
        </p:txBody>
      </p:sp>
      <p:pic>
        <p:nvPicPr>
          <p:cNvPr id="13" name="Image 4" descr="/home/claude/work/assets/badge_gradient.png"/>
          <p:cNvPicPr>
            <a:picLocks noChangeAspect="1"/>
          </p:cNvPicPr>
          <p:nvPr/>
        </p:nvPicPr>
        <p:blipFill>
          <a:blip r:embed="rId3"/>
          <a:stretch>
            <a:fillRect/>
          </a:stretch>
        </p:blipFill>
        <p:spPr>
          <a:xfrm>
            <a:off x="914400" y="3968496"/>
            <a:ext cx="310896" cy="310896"/>
          </a:xfrm>
          <a:prstGeom prst="rect">
            <a:avLst/>
          </a:prstGeom>
          <a:effectLst>
            <a:outerShdw blurRad="76200" dist="25400" dir="5400000" algn="bl" rotWithShape="0">
              <a:srgbClr val="3A2E6E">
                <a:alpha val="30000"/>
              </a:srgbClr>
            </a:outerShdw>
          </a:effectLst>
        </p:spPr>
      </p:pic>
      <p:sp>
        <p:nvSpPr>
          <p:cNvPr id="14" name="Text 7"/>
          <p:cNvSpPr txBox="1"/>
          <p:nvPr/>
        </p:nvSpPr>
        <p:spPr>
          <a:xfrm>
            <a:off x="914400" y="3968496"/>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200" dirty="0"/>
          </a:p>
        </p:txBody>
      </p:sp>
      <p:sp>
        <p:nvSpPr>
          <p:cNvPr id="15" name="Text 8"/>
          <p:cNvSpPr txBox="1"/>
          <p:nvPr/>
        </p:nvSpPr>
        <p:spPr>
          <a:xfrm>
            <a:off x="1353312" y="3858768"/>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It's built to sound fluent, not to flag doubt: the tone is the same whether it's sure or just making something up.</a:t>
            </a:r>
            <a:endParaRPr lang="en-US" sz="1100" dirty="0"/>
          </a:p>
        </p:txBody>
      </p:sp>
      <p:pic>
        <p:nvPicPr>
          <p:cNvPr id="16" name="Image 5" descr="/home/claude/work/assets/badge_gradient.png"/>
          <p:cNvPicPr>
            <a:picLocks noChangeAspect="1"/>
          </p:cNvPicPr>
          <p:nvPr/>
        </p:nvPicPr>
        <p:blipFill>
          <a:blip r:embed="rId3"/>
          <a:stretch>
            <a:fillRect/>
          </a:stretch>
        </p:blipFill>
        <p:spPr>
          <a:xfrm>
            <a:off x="914400" y="4636008"/>
            <a:ext cx="310896" cy="310896"/>
          </a:xfrm>
          <a:prstGeom prst="rect">
            <a:avLst/>
          </a:prstGeom>
          <a:effectLst>
            <a:outerShdw blurRad="76200" dist="25400" dir="5400000" algn="bl" rotWithShape="0">
              <a:srgbClr val="3A2E6E">
                <a:alpha val="30000"/>
              </a:srgbClr>
            </a:outerShdw>
          </a:effectLst>
        </p:spPr>
      </p:pic>
      <p:sp>
        <p:nvSpPr>
          <p:cNvPr id="17" name="Text 9"/>
          <p:cNvSpPr txBox="1"/>
          <p:nvPr/>
        </p:nvSpPr>
        <p:spPr>
          <a:xfrm>
            <a:off x="914400" y="4636008"/>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200" dirty="0"/>
          </a:p>
        </p:txBody>
      </p:sp>
      <p:sp>
        <p:nvSpPr>
          <p:cNvPr id="18" name="Text 10"/>
          <p:cNvSpPr txBox="1"/>
          <p:nvPr/>
        </p:nvSpPr>
        <p:spPr>
          <a:xfrm>
            <a:off x="1353312" y="4526280"/>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Disagreeing with it often makes it agree with you, which isn't the same as you being right.</a:t>
            </a:r>
            <a:endParaRPr lang="en-US" sz="1100" dirty="0"/>
          </a:p>
        </p:txBody>
      </p:sp>
      <p:sp>
        <p:nvSpPr>
          <p:cNvPr id="19" name="Shape 11"/>
          <p:cNvSpPr/>
          <p:nvPr/>
        </p:nvSpPr>
        <p:spPr>
          <a:xfrm>
            <a:off x="6172200" y="1920240"/>
            <a:ext cx="5074920" cy="3429000"/>
          </a:xfrm>
          <a:prstGeom prst="roundRect">
            <a:avLst>
              <a:gd name="adj" fmla="val 4000"/>
            </a:avLst>
          </a:prstGeom>
          <a:solidFill>
            <a:srgbClr val="F2F5FA"/>
          </a:solidFill>
          <a:effectLst>
            <a:outerShdw blurRad="101600" dist="38100" dir="5400000" algn="bl" rotWithShape="0">
              <a:srgbClr val="1A2B33">
                <a:alpha val="12000"/>
              </a:srgbClr>
            </a:outerShdw>
          </a:effectLst>
        </p:spPr>
      </p:sp>
      <p:sp>
        <p:nvSpPr>
          <p:cNvPr id="20" name="Text 12"/>
          <p:cNvSpPr txBox="1"/>
          <p:nvPr/>
        </p:nvSpPr>
        <p:spPr>
          <a:xfrm>
            <a:off x="6446520" y="2176272"/>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REDUCE IT: PROMPT FOR IT</a:t>
            </a:r>
            <a:endParaRPr lang="en-US" sz="1250" dirty="0"/>
          </a:p>
        </p:txBody>
      </p:sp>
      <p:sp>
        <p:nvSpPr>
          <p:cNvPr id="21" name="Text 13"/>
          <p:cNvSpPr txBox="1"/>
          <p:nvPr/>
        </p:nvSpPr>
        <p:spPr>
          <a:xfrm>
            <a:off x="6446520" y="2697480"/>
            <a:ext cx="4526280" cy="320040"/>
          </a:xfrm>
          <a:prstGeom prst="rect">
            <a:avLst/>
          </a:prstGeom>
          <a:noFill/>
        </p:spPr>
        <p:txBody>
          <a:bodyPr wrap="square" lIns="0" tIns="0" rIns="0" bIns="0" rtlCol="0" anchor="ctr"/>
          <a:lstStyle/>
          <a:p>
            <a:pPr marL="0" indent="0">
              <a:buNone/>
            </a:pPr>
            <a:r>
              <a:rPr lang="en-US" sz="1200" i="1" dirty="0">
                <a:solidFill>
                  <a:srgbClr val="56606E"/>
                </a:solidFill>
                <a:latin typeface="Arial" panose="020B0604020202020204" pitchFamily="34" charset="0"/>
                <a:ea typeface="Arial" panose="020B0604020202020204" pitchFamily="34" charset="-122"/>
                <a:cs typeface="Arial" panose="020B0604020202020204" pitchFamily="34" charset="-120"/>
              </a:rPr>
              <a:t>Try asking it this:</a:t>
            </a:r>
            <a:endParaRPr lang="en-US" sz="1200" dirty="0"/>
          </a:p>
        </p:txBody>
      </p:sp>
      <p:sp>
        <p:nvSpPr>
          <p:cNvPr id="22" name="Shape 14"/>
          <p:cNvSpPr/>
          <p:nvPr/>
        </p:nvSpPr>
        <p:spPr>
          <a:xfrm>
            <a:off x="6446520" y="3108960"/>
            <a:ext cx="4526280" cy="1737360"/>
          </a:xfrm>
          <a:prstGeom prst="roundRect">
            <a:avLst>
              <a:gd name="adj" fmla="val 6316"/>
            </a:avLst>
          </a:prstGeom>
          <a:solidFill>
            <a:srgbClr val="FFFFFF"/>
          </a:solidFill>
          <a:ln w="12700">
            <a:solidFill>
              <a:srgbClr val="DCE4EF"/>
            </a:solidFill>
            <a:prstDash val="solid"/>
          </a:ln>
          <a:effectLst>
            <a:outerShdw blurRad="101600" dist="38100" dir="5400000" algn="bl" rotWithShape="0">
              <a:srgbClr val="1A2B33">
                <a:alpha val="12000"/>
              </a:srgbClr>
            </a:outerShdw>
          </a:effectLst>
        </p:spPr>
      </p:sp>
      <p:sp>
        <p:nvSpPr>
          <p:cNvPr id="23" name="Text 15"/>
          <p:cNvSpPr txBox="1"/>
          <p:nvPr/>
        </p:nvSpPr>
        <p:spPr>
          <a:xfrm>
            <a:off x="6720840" y="3108960"/>
            <a:ext cx="3977640" cy="1737360"/>
          </a:xfrm>
          <a:prstGeom prst="rect">
            <a:avLst/>
          </a:prstGeom>
          <a:noFill/>
        </p:spPr>
        <p:txBody>
          <a:bodyPr wrap="square" lIns="0" tIns="0" rIns="0" bIns="0" rtlCol="0" anchor="ctr"/>
          <a:lstStyle/>
          <a:p>
            <a:pPr marL="0" indent="0">
              <a:lnSpc>
                <a:spcPts val="1900"/>
              </a:lnSpc>
              <a:buNone/>
            </a:pPr>
            <a:r>
              <a:rPr lang="en-US" sz="1350" i="1" dirty="0">
                <a:solidFill>
                  <a:srgbClr val="00081D"/>
                </a:solidFill>
                <a:latin typeface="Arial" panose="020B0604020202020204" pitchFamily="34" charset="0"/>
                <a:ea typeface="Arial" panose="020B0604020202020204" pitchFamily="34" charset="-122"/>
                <a:cs typeface="Arial" panose="020B0604020202020204" pitchFamily="34" charset="-120"/>
              </a:rPr>
              <a:t>“Always tell me where this comes from. If you don't have a real source, or you're not sure, say so instead of guessing.”</a:t>
            </a:r>
            <a:endParaRPr lang="en-US" sz="1350" dirty="0"/>
          </a:p>
        </p:txBody>
      </p:sp>
      <p:sp>
        <p:nvSpPr>
          <p:cNvPr id="24" name="Text 1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Who owns what it writes?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Ownership of AI-written material is still an open legal question, treat it that way.</a:t>
            </a:r>
            <a:endParaRPr lang="en-US" sz="1300" dirty="0"/>
          </a:p>
        </p:txBody>
      </p:sp>
      <p:pic>
        <p:nvPicPr>
          <p:cNvPr id="5" name="Image 1" descr="/home/claude/work/assets/panel_5.55x4.30.png"/>
          <p:cNvPicPr>
            <a:picLocks noChangeAspect="1"/>
          </p:cNvPicPr>
          <p:nvPr/>
        </p:nvPicPr>
        <p:blipFill>
          <a:blip r:embed="rId2"/>
          <a:stretch>
            <a:fillRect/>
          </a:stretch>
        </p:blipFill>
        <p:spPr>
          <a:xfrm>
            <a:off x="640080" y="1691640"/>
            <a:ext cx="5074920" cy="393192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1965960"/>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THE SHORT VERSION</a:t>
            </a:r>
            <a:endParaRPr lang="en-US" sz="1250" dirty="0"/>
          </a:p>
        </p:txBody>
      </p:sp>
      <p:sp>
        <p:nvSpPr>
          <p:cNvPr id="7" name="Text 3"/>
          <p:cNvSpPr txBox="1"/>
          <p:nvPr/>
        </p:nvSpPr>
        <p:spPr>
          <a:xfrm>
            <a:off x="914400" y="2423160"/>
            <a:ext cx="4526280" cy="1463040"/>
          </a:xfrm>
          <a:prstGeom prst="rect">
            <a:avLst/>
          </a:prstGeom>
          <a:noFill/>
        </p:spPr>
        <p:txBody>
          <a:bodyPr wrap="square" lIns="0" tIns="0" rIns="0" bIns="0" rtlCol="0" anchor="ctr"/>
          <a:lstStyle/>
          <a:p>
            <a:pPr marL="0" indent="0">
              <a:lnSpc>
                <a:spcPts val="1800"/>
              </a:lnSpc>
              <a:buNone/>
            </a:pPr>
            <a:r>
              <a:rPr lang="en-US" sz="1300" dirty="0">
                <a:solidFill>
                  <a:srgbClr val="D6E6F5"/>
                </a:solidFill>
                <a:latin typeface="Arial" panose="020B0604020202020204" pitchFamily="34" charset="0"/>
                <a:ea typeface="Arial" panose="020B0604020202020204" pitchFamily="34" charset="-122"/>
                <a:cs typeface="Arial" panose="020B0604020202020204" pitchFamily="34" charset="-120"/>
              </a:rPr>
              <a:t>Courts have been ruling that something purely AI-written isn't protected by copyright at all, only the parts where a person actually made the creative decisions. Typing a good prompt, or picking your favorite draft out of a few, doesn't count as authorship on its own.</a:t>
            </a:r>
            <a:endParaRPr lang="en-US" sz="1300" dirty="0"/>
          </a:p>
        </p:txBody>
      </p:sp>
      <p:sp>
        <p:nvSpPr>
          <p:cNvPr id="8" name="Text 4"/>
          <p:cNvSpPr txBox="1"/>
          <p:nvPr/>
        </p:nvSpPr>
        <p:spPr>
          <a:xfrm>
            <a:off x="914400" y="4572000"/>
            <a:ext cx="4526280" cy="868680"/>
          </a:xfrm>
          <a:prstGeom prst="rect">
            <a:avLst/>
          </a:prstGeom>
          <a:noFill/>
        </p:spPr>
        <p:txBody>
          <a:bodyPr wrap="square" lIns="0" tIns="0" rIns="0" bIns="0" rtlCol="0" anchor="ctr"/>
          <a:lstStyle/>
          <a:p>
            <a:pPr marL="0" indent="0">
              <a:lnSpc>
                <a:spcPts val="1600"/>
              </a:lnSpc>
              <a:buNone/>
            </a:pPr>
            <a:r>
              <a:rPr lang="en-US" sz="1200" i="1" dirty="0">
                <a:solidFill>
                  <a:srgbClr val="D6E6F5"/>
                </a:solidFill>
                <a:latin typeface="Arial" panose="020B0604020202020204" pitchFamily="34" charset="0"/>
                <a:ea typeface="Arial" panose="020B0604020202020204" pitchFamily="34" charset="-122"/>
                <a:cs typeface="Arial" panose="020B0604020202020204" pitchFamily="34" charset="-120"/>
              </a:rPr>
              <a:t>In practice: a report or client note that's mostly untouched AI output may not be something the company can fully claim as its own work, or stop someone else from copying.</a:t>
            </a:r>
            <a:endParaRPr lang="en-US" sz="1200" dirty="0"/>
          </a:p>
        </p:txBody>
      </p:sp>
      <p:sp>
        <p:nvSpPr>
          <p:cNvPr id="9" name="Shape 5"/>
          <p:cNvSpPr/>
          <p:nvPr/>
        </p:nvSpPr>
        <p:spPr>
          <a:xfrm>
            <a:off x="6172200" y="1691640"/>
            <a:ext cx="5074920" cy="3931920"/>
          </a:xfrm>
          <a:prstGeom prst="roundRect">
            <a:avLst>
              <a:gd name="adj" fmla="val 3488"/>
            </a:avLst>
          </a:prstGeom>
          <a:solidFill>
            <a:srgbClr val="F2F5FA"/>
          </a:solidFill>
          <a:effectLst>
            <a:outerShdw blurRad="101600" dist="38100" dir="5400000" algn="bl" rotWithShape="0">
              <a:srgbClr val="1A2B33">
                <a:alpha val="12000"/>
              </a:srgbClr>
            </a:outerShdw>
          </a:effectLst>
        </p:spPr>
      </p:sp>
      <p:sp>
        <p:nvSpPr>
          <p:cNvPr id="10" name="Text 6"/>
          <p:cNvSpPr txBox="1"/>
          <p:nvPr/>
        </p:nvSpPr>
        <p:spPr>
          <a:xfrm>
            <a:off x="6446520" y="1965960"/>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STAY COVERED</a:t>
            </a:r>
            <a:endParaRPr lang="en-US" sz="1250" dirty="0"/>
          </a:p>
        </p:txBody>
      </p:sp>
      <p:pic>
        <p:nvPicPr>
          <p:cNvPr id="11" name="Image 2" descr="/home/claude/work/assets/badge_gradient_teal.png"/>
          <p:cNvPicPr>
            <a:picLocks noChangeAspect="1"/>
          </p:cNvPicPr>
          <p:nvPr/>
        </p:nvPicPr>
        <p:blipFill>
          <a:blip r:embed="rId3"/>
          <a:stretch>
            <a:fillRect/>
          </a:stretch>
        </p:blipFill>
        <p:spPr>
          <a:xfrm>
            <a:off x="6446520" y="2468880"/>
            <a:ext cx="365760" cy="36576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6446520" y="2468880"/>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300" dirty="0"/>
          </a:p>
        </p:txBody>
      </p:sp>
      <p:sp>
        <p:nvSpPr>
          <p:cNvPr id="13" name="Text 8"/>
          <p:cNvSpPr txBox="1"/>
          <p:nvPr/>
        </p:nvSpPr>
        <p:spPr>
          <a:xfrm>
            <a:off x="6949440" y="2423160"/>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Edit it, don't just copy it.</a:t>
            </a:r>
            <a:endParaRPr lang="en-US" sz="1300" dirty="0"/>
          </a:p>
        </p:txBody>
      </p:sp>
      <p:sp>
        <p:nvSpPr>
          <p:cNvPr id="14" name="Text 9"/>
          <p:cNvSpPr txBox="1"/>
          <p:nvPr/>
        </p:nvSpPr>
        <p:spPr>
          <a:xfrm>
            <a:off x="6949440" y="2688336"/>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Real changes and choices are what make something actually yours.</a:t>
            </a:r>
            <a:endParaRPr lang="en-US" sz="1050" dirty="0"/>
          </a:p>
        </p:txBody>
      </p:sp>
      <p:pic>
        <p:nvPicPr>
          <p:cNvPr id="15" name="Image 3" descr="/home/claude/work/assets/badge_gradient_teal.png"/>
          <p:cNvPicPr>
            <a:picLocks noChangeAspect="1"/>
          </p:cNvPicPr>
          <p:nvPr/>
        </p:nvPicPr>
        <p:blipFill>
          <a:blip r:embed="rId3"/>
          <a:stretch>
            <a:fillRect/>
          </a:stretch>
        </p:blipFill>
        <p:spPr>
          <a:xfrm>
            <a:off x="6446520" y="3227832"/>
            <a:ext cx="365760" cy="36576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6446520" y="3227832"/>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300" dirty="0"/>
          </a:p>
        </p:txBody>
      </p:sp>
      <p:sp>
        <p:nvSpPr>
          <p:cNvPr id="17" name="Text 11"/>
          <p:cNvSpPr txBox="1"/>
          <p:nvPr/>
        </p:nvSpPr>
        <p:spPr>
          <a:xfrm>
            <a:off x="6949440" y="3182112"/>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Keep a record.</a:t>
            </a:r>
            <a:endParaRPr lang="en-US" sz="1300" dirty="0"/>
          </a:p>
        </p:txBody>
      </p:sp>
      <p:sp>
        <p:nvSpPr>
          <p:cNvPr id="18" name="Text 12"/>
          <p:cNvSpPr txBox="1"/>
          <p:nvPr/>
        </p:nvSpPr>
        <p:spPr>
          <a:xfrm>
            <a:off x="6949440" y="3447288"/>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Note what was AI-drafted and what a person changed, especially for anything client-facing.</a:t>
            </a:r>
            <a:endParaRPr lang="en-US" sz="1050" dirty="0"/>
          </a:p>
        </p:txBody>
      </p:sp>
      <p:pic>
        <p:nvPicPr>
          <p:cNvPr id="19" name="Image 4" descr="/home/claude/work/assets/badge_gradient_teal.png"/>
          <p:cNvPicPr>
            <a:picLocks noChangeAspect="1"/>
          </p:cNvPicPr>
          <p:nvPr/>
        </p:nvPicPr>
        <p:blipFill>
          <a:blip r:embed="rId3"/>
          <a:stretch>
            <a:fillRect/>
          </a:stretch>
        </p:blipFill>
        <p:spPr>
          <a:xfrm>
            <a:off x="6446520" y="3986784"/>
            <a:ext cx="365760" cy="365760"/>
          </a:xfrm>
          <a:prstGeom prst="rect">
            <a:avLst/>
          </a:prstGeom>
          <a:effectLst>
            <a:outerShdw blurRad="76200" dist="25400" dir="5400000" algn="bl" rotWithShape="0">
              <a:srgbClr val="3A2E6E">
                <a:alpha val="30000"/>
              </a:srgbClr>
            </a:outerShdw>
          </a:effectLst>
        </p:spPr>
      </p:pic>
      <p:sp>
        <p:nvSpPr>
          <p:cNvPr id="20" name="Text 13"/>
          <p:cNvSpPr txBox="1"/>
          <p:nvPr/>
        </p:nvSpPr>
        <p:spPr>
          <a:xfrm>
            <a:off x="6446520" y="3986784"/>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300" dirty="0"/>
          </a:p>
        </p:txBody>
      </p:sp>
      <p:sp>
        <p:nvSpPr>
          <p:cNvPr id="21" name="Text 14"/>
          <p:cNvSpPr txBox="1"/>
          <p:nvPr/>
        </p:nvSpPr>
        <p:spPr>
          <a:xfrm>
            <a:off x="6949440" y="3941064"/>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Don't publish it as-is.</a:t>
            </a:r>
            <a:endParaRPr lang="en-US" sz="1300" dirty="0"/>
          </a:p>
        </p:txBody>
      </p:sp>
      <p:sp>
        <p:nvSpPr>
          <p:cNvPr id="22" name="Text 15"/>
          <p:cNvSpPr txBox="1"/>
          <p:nvPr/>
        </p:nvSpPr>
        <p:spPr>
          <a:xfrm>
            <a:off x="6949440" y="4206240"/>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 under the company's name, for anything that matters legally or commercially.</a:t>
            </a:r>
            <a:endParaRPr lang="en-US" sz="1050" dirty="0"/>
          </a:p>
        </p:txBody>
      </p:sp>
      <p:pic>
        <p:nvPicPr>
          <p:cNvPr id="23" name="Image 5" descr="/home/claude/work/assets/badge_gradient_teal.png"/>
          <p:cNvPicPr>
            <a:picLocks noChangeAspect="1"/>
          </p:cNvPicPr>
          <p:nvPr/>
        </p:nvPicPr>
        <p:blipFill>
          <a:blip r:embed="rId3"/>
          <a:stretch>
            <a:fillRect/>
          </a:stretch>
        </p:blipFill>
        <p:spPr>
          <a:xfrm>
            <a:off x="6446520" y="4745736"/>
            <a:ext cx="365760" cy="365760"/>
          </a:xfrm>
          <a:prstGeom prst="rect">
            <a:avLst/>
          </a:prstGeom>
          <a:effectLst>
            <a:outerShdw blurRad="76200" dist="25400" dir="5400000" algn="bl" rotWithShape="0">
              <a:srgbClr val="3A2E6E">
                <a:alpha val="30000"/>
              </a:srgbClr>
            </a:outerShdw>
          </a:effectLst>
        </p:spPr>
      </p:pic>
      <p:sp>
        <p:nvSpPr>
          <p:cNvPr id="24" name="Text 16"/>
          <p:cNvSpPr txBox="1"/>
          <p:nvPr/>
        </p:nvSpPr>
        <p:spPr>
          <a:xfrm>
            <a:off x="6446520" y="4745736"/>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300" dirty="0"/>
          </a:p>
        </p:txBody>
      </p:sp>
      <p:sp>
        <p:nvSpPr>
          <p:cNvPr id="25" name="Text 17"/>
          <p:cNvSpPr txBox="1"/>
          <p:nvPr/>
        </p:nvSpPr>
        <p:spPr>
          <a:xfrm>
            <a:off x="6949440" y="4700016"/>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Ask when it's not obvious.</a:t>
            </a:r>
            <a:endParaRPr lang="en-US" sz="1300" dirty="0"/>
          </a:p>
        </p:txBody>
      </p:sp>
      <p:sp>
        <p:nvSpPr>
          <p:cNvPr id="26" name="Text 18"/>
          <p:cNvSpPr txBox="1"/>
          <p:nvPr/>
        </p:nvSpPr>
        <p:spPr>
          <a:xfrm>
            <a:off x="6949440" y="4965192"/>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Check with Legal or Compliance before your name, or the company's, goes on AI-written material.</a:t>
            </a:r>
            <a:endParaRPr lang="en-US" sz="1050" dirty="0"/>
          </a:p>
        </p:txBody>
      </p:sp>
      <p:sp>
        <p:nvSpPr>
          <p:cNvPr id="27" name="Text 1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viz_closing.jpg"/>
          <p:cNvPicPr>
            <a:picLocks noChangeAspect="1"/>
          </p:cNvPicPr>
          <p:nvPr/>
        </p:nvPicPr>
        <p:blipFill>
          <a:blip r:embed="rId1"/>
          <a:stretch>
            <a:fillRect/>
          </a:stretch>
        </p:blipFill>
        <p:spPr>
          <a:xfrm>
            <a:off x="0" y="0"/>
            <a:ext cx="12191695" cy="6629400"/>
          </a:xfrm>
          <a:prstGeom prst="rect">
            <a:avLst/>
          </a:prstGeom>
        </p:spPr>
      </p:pic>
      <p:sp>
        <p:nvSpPr>
          <p:cNvPr id="3" name="Text 0"/>
          <p:cNvSpPr txBox="1"/>
          <p:nvPr/>
        </p:nvSpPr>
        <p:spPr>
          <a:xfrm>
            <a:off x="4389120" y="2468880"/>
            <a:ext cx="3200400" cy="1280160"/>
          </a:xfrm>
          <a:prstGeom prst="rect">
            <a:avLst/>
          </a:prstGeom>
          <a:noFill/>
        </p:spPr>
        <p:txBody>
          <a:bodyPr wrap="square" lIns="0" tIns="0" rIns="0" bIns="0" rtlCol="0" anchor="ctr"/>
          <a:lstStyle/>
          <a:p>
            <a:pPr marL="0" indent="0" algn="ctr">
              <a:lnSpc>
                <a:spcPts val="2600"/>
              </a:lnSpc>
              <a:buNone/>
            </a:pPr>
            <a:r>
              <a:rPr lang="en-US" sz="1800" i="1" dirty="0">
                <a:solidFill>
                  <a:srgbClr val="0B1B33"/>
                </a:solidFill>
                <a:latin typeface="Arial" panose="020B0604020202020204" pitchFamily="34" charset="0"/>
                <a:ea typeface="Arial" panose="020B0604020202020204" pitchFamily="34" charset="-122"/>
                <a:cs typeface="Arial" panose="020B0604020202020204" pitchFamily="34" charset="-120"/>
              </a:rPr>
              <a:t>If you were wondering, yes, this presentation was made with AI help.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6074</Words>
  <Application>WPS Presentation</Application>
  <PresentationFormat>On-screen Show (16:9)</PresentationFormat>
  <Paragraphs>274</Paragraphs>
  <Slides>11</Slides>
  <Notes>11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11</vt:i4>
      </vt:variant>
    </vt:vector>
  </HeadingPairs>
  <TitlesOfParts>
    <vt:vector size="24" baseType="lpstr">
      <vt:lpstr>Arial</vt:lpstr>
      <vt:lpstr>SimSun</vt:lpstr>
      <vt:lpstr>Wingdings</vt:lpstr>
      <vt:lpstr>Arial</vt:lpstr>
      <vt:lpstr>Arial</vt:lpstr>
      <vt:lpstr>Arial</vt:lpstr>
      <vt:lpstr>Courier New</vt:lpstr>
      <vt:lpstr>Courier New</vt:lpstr>
      <vt:lpstr>Courier New</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Sandra Sanabria</cp:lastModifiedBy>
  <cp:revision>6</cp:revision>
  <dcterms:created xsi:type="dcterms:W3CDTF">2026-09-12T22:16:00Z</dcterms:created>
  <dcterms:modified xsi:type="dcterms:W3CDTF">2026-09-13T08:24:25Z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73D9D746F1D04435A914DF7F92D6587A_12</vt:lpwstr>
  </property>
</Properties>
</file>